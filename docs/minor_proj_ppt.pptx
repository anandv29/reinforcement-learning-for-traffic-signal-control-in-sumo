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358" r:id="rId3"/>
    <p:sldId id="359" r:id="rId4"/>
    <p:sldId id="360" r:id="rId5"/>
    <p:sldId id="361" r:id="rId6"/>
    <p:sldId id="363" r:id="rId7"/>
    <p:sldId id="362" r:id="rId8"/>
    <p:sldId id="364" r:id="rId9"/>
    <p:sldId id="373" r:id="rId10"/>
    <p:sldId id="378" r:id="rId11"/>
    <p:sldId id="374" r:id="rId12"/>
    <p:sldId id="376" r:id="rId13"/>
    <p:sldId id="380" r:id="rId14"/>
    <p:sldId id="381" r:id="rId15"/>
    <p:sldId id="382" r:id="rId16"/>
    <p:sldId id="375" r:id="rId17"/>
    <p:sldId id="369" r:id="rId18"/>
    <p:sldId id="370" r:id="rId19"/>
    <p:sldId id="371" r:id="rId20"/>
    <p:sldId id="372" r:id="rId21"/>
    <p:sldId id="365" r:id="rId22"/>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340" autoAdjust="0"/>
    <p:restoredTop sz="94660"/>
  </p:normalViewPr>
  <p:slideViewPr>
    <p:cSldViewPr>
      <p:cViewPr varScale="1">
        <p:scale>
          <a:sx n="70" d="100"/>
          <a:sy n="70" d="100"/>
        </p:scale>
        <p:origin x="792"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05:35:39.067"/>
    </inkml:context>
    <inkml:brush xml:id="br0">
      <inkml:brushProperty name="width" value="0.35" units="cm"/>
      <inkml:brushProperty name="height" value="0.35" units="cm"/>
      <inkml:brushProperty name="color" value="#EFF7F0"/>
    </inkml:brush>
  </inkml:definitions>
  <inkml:trace contextRef="#ctx0" brushRef="#br0">335 1131 24575,'-13'16'0,"1"0"0,0 1 0,2 0 0,0 1 0,1 0 0,0 0 0,-9 34 0,14-43 0,0 0 0,0 0 0,-1 0 0,0 0 0,-1-1 0,0 0 0,-9 10 0,-1-2 0,0 0 0,-21 13 0,-2 12 0,39-41 0,0 0 0,0 0 0,0 0 0,0 0 0,0 0 0,0 0 0,0 0 0,-1 0 0,1 0 0,0 0 0,0 0 0,0 0 0,0 0 0,0 0 0,0 0 0,0 0 0,-1 1 0,1-1 0,0-1 0,0 1 0,0 0 0,0 0 0,0 0 0,0 0 0,0 0 0,-1 0 0,1 0 0,0 0 0,0 0 0,0 0 0,0 0 0,0 0 0,0 0 0,0 0 0,0 0 0,0 0 0,-1 0 0,1 0 0,0-1 0,0 1 0,0 0 0,0 0 0,0 0 0,0 0 0,0 0 0,0 0 0,0 0 0,0 0 0,0-1 0,0 1 0,0 0 0,0 0 0,-2-11 0,1-14 0,1-4 0,3-145 0,0 134 0,2 0 0,12-52 0,13-16 0,-9 34 0,-2-1 0,14-136 0,-20 54 0,0-35 0,-17 351 0,-7-1 0,-41 202 0,24-262 0,18-70 0,1 0 0,-6 43 0,-10 173 0,13-172 0,7-47 0,-3 41 0,7 127 0,3-105 0,-18 163 0,11-231 0,2-29 0,1-34 0,10-68 0,27-140 0,14 54 0,-32 139 0,-2 0 0,-3-1 0,8-99 0,-16 104 0,3 0 0,19-74 0,-14 77 0,-2 0 0,5-93 0,-13 102 0,1 1 0,18-78 0,35-79 0,5-26 0,-59 214 0,0 0 0,8-19 0,-9 28 0,-1 0 0,0 0 0,1 0 0,0 0 0,-1 0 0,1 0 0,0 0 0,-1 0 0,1 1 0,0-1 0,0 0 0,0 0 0,-1 0 0,1 1 0,0-1 0,2 0 0,-2 1 0,-1 0 0,1 0 0,0 0 0,0 0 0,0 1 0,-1-1 0,1 0 0,0 0 0,0 1 0,-1-1 0,1 0 0,0 1 0,-1-1 0,1 1 0,0-1 0,-1 1 0,1-1 0,-1 1 0,1 0 0,-1-1 0,1 1 0,-1-1 0,1 1 0,-1 0 0,0 0 0,1-1 0,-1 3 0,10 17 0,0 2 0,-2-1 0,7 32 0,11 27 0,-15-49 0,-1 0 0,-2 0 0,-1 0 0,5 61 0,-9-30 0,-7 98 0,-9-60 0,6-58 0,-1 43 0,7-60 0,-1-1 0,-9 43 0,6-33 0,1 0 0,2 0 0,3 67 0,-1 40 0,-12-71 0,7-49 0,-3 36 0,8-18 0,0-28 0,0 1 0,0-1 0,-1 1 0,-1-1 0,-5 21 0,6-28 0,0-1 0,-1 0 0,0 0 0,1 0 0,-1 0 0,0 0 0,-1-1 0,1 1 0,0-1 0,-1 1 0,1-1 0,-1 0 0,0 0 0,0 0 0,0 0 0,0 0 0,0-1 0,0 1 0,0-1 0,-1 0 0,1 0 0,0 0 0,-1 0 0,-3 0 0,-21 2 0,1-2 0,-47-2 0,26-1 0,38 1 0,-1 0 0,0 0 0,1-1 0,0 0 0,-1-1 0,-10-5 0,-56-29 0,51 24 0,23 11 17,0 0-1,0 0 0,0 0 1,1 0-1,-1-1 0,0 1 1,1-1-1,0 1 0,0-1 1,0 0-1,0 0 0,0 0 1,0 0-1,1-1 0,0 1 1,-1 0-1,1-1 0,0 1 1,0-5-1,-1-7-230,0 0 1,2 0-1,1-19 0,-1 14-623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3T05:34:32.815"/>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229 222,'-2'3,"0"1,0-1,0 0,0 1,1 0,0-1,-1 1,1 0,-1 6,-1 4,-11 43,-6 61,-13 51,10-82,-17 132,29-142,-5 58,13-119,0 0,0 0,-1 0,-9 18,8-20,0-1,1 1,1 0,0 1,-1 17,3-31,1 0,0 0,0 0,0 0,0 0,0 0,0 0,0 0,0 0,1 0,-1 0,0 0,0 0,1 0,-1 0,1 0,-1 0,1 0,0 1,0-2,0 0,-1 0,1 0,-1 0,1 0,-1 0,1 0,-1-1,1 1,-1 0,1 0,-1-1,1 1,-1 0,1 0,-1-1,1 1,-1-1,1 1,-1 0,0-1,1 1,-1-1,1 0,23-35,-1-13,30-88,-10 19,-29 86,142-303,-147 320,-2 0,0-1,0 0,-2 0,0 0,-1-1,0 0,-1 0,-1 0,-1 0,-1-23,1 27,1 0,0 1,1-1,0 1,1 0,0 0,1 0,0 0,10-13,16-44,-22 41,7-48,-12 52,2 0,12-36,-18 60,0-1,0 1,0-1,0 0,0 1,1 0,-1-1,0 1,0-1,1 1,-1-1,0 1,0-1,1 1,-1 0,1-1,-1 1,0 0,1-1,-1 1,1 0,-1-1,1 1,-1 0,0 0,2-1,-2 2,1-1,-1 1,1 0,-1-1,1 1,-1-1,1 1,-1 0,0-1,1 1,-1 0,0-1,0 1,0 0,1 0,-1-1,0 2,5 42,-1-1,-5 84,-1-55,0 178,1-234,-1-1,0 1,-2 0,1-1,-8 18,4-13,1 0,-3 27,-17 138,23-159</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05:35:39.067"/>
    </inkml:context>
    <inkml:brush xml:id="br0">
      <inkml:brushProperty name="width" value="0.35" units="cm"/>
      <inkml:brushProperty name="height" value="0.35" units="cm"/>
      <inkml:brushProperty name="color" value="#EFF7F0"/>
    </inkml:brush>
  </inkml:definitions>
  <inkml:trace contextRef="#ctx0" brushRef="#br0">335 1131 24575,'-13'16'0,"1"0"0,0 1 0,2 0 0,0 1 0,1 0 0,0 0 0,-9 34 0,14-43 0,0 0 0,0 0 0,-1 0 0,0 0 0,-1-1 0,0 0 0,-9 10 0,-1-2 0,0 0 0,-21 13 0,-2 12 0,39-41 0,0 0 0,0 0 0,0 0 0,0 0 0,0 0 0,0 0 0,0 0 0,-1 0 0,1 0 0,0 0 0,0 0 0,0 0 0,0 0 0,0 0 0,0 0 0,0 0 0,-1 1 0,1-1 0,0-1 0,0 1 0,0 0 0,0 0 0,0 0 0,0 0 0,0 0 0,-1 0 0,1 0 0,0 0 0,0 0 0,0 0 0,0 0 0,0 0 0,0 0 0,0 0 0,0 0 0,0 0 0,-1 0 0,1 0 0,0-1 0,0 1 0,0 0 0,0 0 0,0 0 0,0 0 0,0 0 0,0 0 0,0 0 0,0 0 0,0-1 0,0 1 0,0 0 0,0 0 0,-2-11 0,1-14 0,1-4 0,3-145 0,0 134 0,2 0 0,12-52 0,13-16 0,-9 34 0,-2-1 0,14-136 0,-20 54 0,0-35 0,-17 351 0,-7-1 0,-41 202 0,24-262 0,18-70 0,1 0 0,-6 43 0,-10 173 0,13-172 0,7-47 0,-3 41 0,7 127 0,3-105 0,-18 163 0,11-231 0,2-29 0,1-34 0,10-68 0,27-140 0,14 54 0,-32 139 0,-2 0 0,-3-1 0,8-99 0,-16 104 0,3 0 0,19-74 0,-14 77 0,-2 0 0,5-93 0,-13 102 0,1 1 0,18-78 0,35-79 0,5-26 0,-59 214 0,0 0 0,8-19 0,-9 28 0,-1 0 0,0 0 0,1 0 0,0 0 0,-1 0 0,1 0 0,0 0 0,-1 0 0,1 1 0,0-1 0,0 0 0,0 0 0,-1 0 0,1 1 0,0-1 0,2 0 0,-2 1 0,-1 0 0,1 0 0,0 0 0,0 0 0,0 1 0,-1-1 0,1 0 0,0 0 0,0 1 0,-1-1 0,1 0 0,0 1 0,-1-1 0,1 1 0,0-1 0,-1 1 0,1-1 0,-1 1 0,1 0 0,-1-1 0,1 1 0,-1-1 0,1 1 0,-1 0 0,0 0 0,1-1 0,-1 3 0,10 17 0,0 2 0,-2-1 0,7 32 0,11 27 0,-15-49 0,-1 0 0,-2 0 0,-1 0 0,5 61 0,-9-30 0,-7 98 0,-9-60 0,6-58 0,-1 43 0,7-60 0,-1-1 0,-9 43 0,6-33 0,1 0 0,2 0 0,3 67 0,-1 40 0,-12-71 0,7-49 0,-3 36 0,8-18 0,0-28 0,0 1 0,0-1 0,-1 1 0,-1-1 0,-5 21 0,6-28 0,0-1 0,-1 0 0,0 0 0,1 0 0,-1 0 0,0 0 0,-1-1 0,1 1 0,0-1 0,-1 1 0,1-1 0,-1 0 0,0 0 0,0 0 0,0 0 0,0 0 0,0-1 0,0 1 0,0-1 0,-1 0 0,1 0 0,0 0 0,-1 0 0,-3 0 0,-21 2 0,1-2 0,-47-2 0,26-1 0,38 1 0,-1 0 0,0 0 0,1-1 0,0 0 0,-1-1 0,-10-5 0,-56-29 0,51 24 0,23 11 17,0 0-1,0 0 0,0 0 1,1 0-1,-1-1 0,0 1 1,1-1-1,0 1 0,0-1 1,0 0-1,0 0 0,0 0 1,0 0-1,1-1 0,0 1 1,-1 0-1,1-1 0,0 1 1,0-5-1,-1-7-230,0 0 1,2 0-1,1-19 0,-1 14-623</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05:35:43.095"/>
    </inkml:context>
    <inkml:brush xml:id="br0">
      <inkml:brushProperty name="width" value="0.35" units="cm"/>
      <inkml:brushProperty name="height" value="0.35" units="cm"/>
      <inkml:brushProperty name="color" value="#EFF7F0"/>
    </inkml:brush>
  </inkml:definitions>
  <inkml:trace contextRef="#ctx0" brushRef="#br0">1 1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05:36:17.499"/>
    </inkml:context>
    <inkml:brush xml:id="br0">
      <inkml:brushProperty name="width" value="0.35" units="cm"/>
      <inkml:brushProperty name="height" value="0.35" units="cm"/>
      <inkml:brushProperty name="color" value="#EFF7F0"/>
    </inkml:brush>
  </inkml:definitions>
  <inkml:trace contextRef="#ctx0" brushRef="#br0">1 0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05:58:50.973"/>
    </inkml:context>
    <inkml:brush xml:id="br0">
      <inkml:brushProperty name="width" value="0.35" units="cm"/>
      <inkml:brushProperty name="height" value="0.35" units="cm"/>
      <inkml:brushProperty name="color" value="#EFF7F0"/>
    </inkml:brush>
  </inkml:definitions>
  <inkml:trace contextRef="#ctx0" brushRef="#br0">0 1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3T05:34:32.815"/>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229 222,'-2'3,"0"1,0-1,0 0,0 1,1 0,0-1,-1 1,1 0,-1 6,-1 4,-11 43,-6 61,-13 51,10-82,-17 132,29-142,-5 58,13-119,0 0,0 0,-1 0,-9 18,8-20,0-1,1 1,1 0,0 1,-1 17,3-31,1 0,0 0,0 0,0 0,0 0,0 0,0 0,0 0,0 0,1 0,-1 0,0 0,0 0,1 0,-1 0,1 0,-1 0,1 0,0 1,0-2,0 0,-1 0,1 0,-1 0,1 0,-1 0,1 0,-1-1,1 1,-1 0,1 0,-1-1,1 1,-1 0,1 0,-1-1,1 1,-1-1,1 1,-1 0,0-1,1 1,-1-1,1 0,23-35,-1-13,30-88,-10 19,-29 86,142-303,-147 320,-2 0,0-1,0 0,-2 0,0 0,-1-1,0 0,-1 0,-1 0,-1 0,-1-23,1 27,1 0,0 1,1-1,0 1,1 0,0 0,1 0,0 0,10-13,16-44,-22 41,7-48,-12 52,2 0,12-36,-18 60,0-1,0 1,0-1,0 0,0 1,1 0,-1-1,0 1,0-1,1 1,-1-1,0 1,0-1,1 1,-1 0,1-1,-1 1,0 0,1-1,-1 1,1 0,-1-1,1 1,-1 0,0 0,2-1,-2 2,1-1,-1 1,1 0,-1-1,1 1,-1-1,1 1,-1 0,0-1,1 1,-1 0,0-1,0 1,0 0,1 0,-1-1,0 2,5 42,-1-1,-5 84,-1-55,0 178,1-234,-1-1,0 1,-2 0,1-1,-8 18,4-13,1 0,-3 27,-17 138,23-159</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05:35:39.067"/>
    </inkml:context>
    <inkml:brush xml:id="br0">
      <inkml:brushProperty name="width" value="0.35" units="cm"/>
      <inkml:brushProperty name="height" value="0.35" units="cm"/>
      <inkml:brushProperty name="color" value="#EFF7F0"/>
    </inkml:brush>
  </inkml:definitions>
  <inkml:trace contextRef="#ctx0" brushRef="#br0">335 1131 24575,'-13'16'0,"1"0"0,0 1 0,2 0 0,0 1 0,1 0 0,0 0 0,-9 34 0,14-43 0,0 0 0,0 0 0,-1 0 0,0 0 0,-1-1 0,0 0 0,-9 10 0,-1-2 0,0 0 0,-21 13 0,-2 12 0,39-41 0,0 0 0,0 0 0,0 0 0,0 0 0,0 0 0,0 0 0,0 0 0,-1 0 0,1 0 0,0 0 0,0 0 0,0 0 0,0 0 0,0 0 0,0 0 0,0 0 0,-1 1 0,1-1 0,0-1 0,0 1 0,0 0 0,0 0 0,0 0 0,0 0 0,0 0 0,-1 0 0,1 0 0,0 0 0,0 0 0,0 0 0,0 0 0,0 0 0,0 0 0,0 0 0,0 0 0,0 0 0,-1 0 0,1 0 0,0-1 0,0 1 0,0 0 0,0 0 0,0 0 0,0 0 0,0 0 0,0 0 0,0 0 0,0 0 0,0-1 0,0 1 0,0 0 0,0 0 0,-2-11 0,1-14 0,1-4 0,3-145 0,0 134 0,2 0 0,12-52 0,13-16 0,-9 34 0,-2-1 0,14-136 0,-20 54 0,0-35 0,-17 351 0,-7-1 0,-41 202 0,24-262 0,18-70 0,1 0 0,-6 43 0,-10 173 0,13-172 0,7-47 0,-3 41 0,7 127 0,3-105 0,-18 163 0,11-231 0,2-29 0,1-34 0,10-68 0,27-140 0,14 54 0,-32 139 0,-2 0 0,-3-1 0,8-99 0,-16 104 0,3 0 0,19-74 0,-14 77 0,-2 0 0,5-93 0,-13 102 0,1 1 0,18-78 0,35-79 0,5-26 0,-59 214 0,0 0 0,8-19 0,-9 28 0,-1 0 0,0 0 0,1 0 0,0 0 0,-1 0 0,1 0 0,0 0 0,-1 0 0,1 1 0,0-1 0,0 0 0,0 0 0,-1 0 0,1 1 0,0-1 0,2 0 0,-2 1 0,-1 0 0,1 0 0,0 0 0,0 0 0,0 1 0,-1-1 0,1 0 0,0 0 0,0 1 0,-1-1 0,1 0 0,0 1 0,-1-1 0,1 1 0,0-1 0,-1 1 0,1-1 0,-1 1 0,1 0 0,-1-1 0,1 1 0,-1-1 0,1 1 0,-1 0 0,0 0 0,1-1 0,-1 3 0,10 17 0,0 2 0,-2-1 0,7 32 0,11 27 0,-15-49 0,-1 0 0,-2 0 0,-1 0 0,5 61 0,-9-30 0,-7 98 0,-9-60 0,6-58 0,-1 43 0,7-60 0,-1-1 0,-9 43 0,6-33 0,1 0 0,2 0 0,3 67 0,-1 40 0,-12-71 0,7-49 0,-3 36 0,8-18 0,0-28 0,0 1 0,0-1 0,-1 1 0,-1-1 0,-5 21 0,6-28 0,0-1 0,-1 0 0,0 0 0,1 0 0,-1 0 0,0 0 0,-1-1 0,1 1 0,0-1 0,-1 1 0,1-1 0,-1 0 0,0 0 0,0 0 0,0 0 0,0 0 0,0-1 0,0 1 0,0-1 0,-1 0 0,1 0 0,0 0 0,-1 0 0,-3 0 0,-21 2 0,1-2 0,-47-2 0,26-1 0,38 1 0,-1 0 0,0 0 0,1-1 0,0 0 0,-1-1 0,-10-5 0,-56-29 0,51 24 0,23 11 17,0 0-1,0 0 0,0 0 1,1 0-1,-1-1 0,0 1 1,1-1-1,0 1 0,0-1 1,0 0-1,0 0 0,0 0 1,0 0-1,1-1 0,0 1 1,-1 0-1,1-1 0,0 1 1,0-5-1,-1-7-230,0 0 1,2 0-1,1-19 0,-1 14-623</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05:36:17.499"/>
    </inkml:context>
    <inkml:brush xml:id="br0">
      <inkml:brushProperty name="width" value="0.35" units="cm"/>
      <inkml:brushProperty name="height" value="0.35" units="cm"/>
      <inkml:brushProperty name="color" value="#EFF7F0"/>
    </inkml:brush>
  </inkml:definitions>
  <inkml:trace contextRef="#ctx0" brushRef="#br0">1 0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05:58:48.578"/>
    </inkml:context>
    <inkml:brush xml:id="br0">
      <inkml:brushProperty name="width" value="0.35" units="cm"/>
      <inkml:brushProperty name="height" value="0.35" units="cm"/>
      <inkml:brushProperty name="color" value="#EFF7F0"/>
    </inkml:brush>
  </inkml:definitions>
  <inkml:trace contextRef="#ctx0" brushRef="#br0">795 729 24575,'1'134'0,"1"21"0,-19 160 0,3-218 0,4-22 0,-3 107 0,14-164 0,-1 23 0,0-39 0,0 0 0,0 1 0,-1-1 0,1 0 0,-1 0 0,1 1 0,-1-1 0,0 0 0,0 0 0,0 0 0,0 0 0,-2 4 0,2-6 0,1 0 0,0 0 0,0 0 0,0 0 0,0 0 0,0 0 0,0 0 0,0 1 0,0-1 0,-1 0 0,1 0 0,0 0 0,0 0 0,0 0 0,0 0 0,0 0 0,0 0 0,-1 0 0,1 0 0,0 0 0,0 0 0,0 0 0,0 0 0,0 0 0,-1 0 0,1 0 0,0 0 0,0 0 0,0 0 0,0 0 0,0 0 0,0-1 0,-1 1 0,1 0 0,0 0 0,0 0 0,0 0 0,0 0 0,0 0 0,0 0 0,0 0 0,0 0 0,0-1 0,0 1 0,-1 0 0,1 0 0,0 0 0,0 0 0,0 0 0,0-1 0,-4-10 0,1-12 0,-7-82 0,-9-171 0,22 147 0,-5-113 0,-10 157 0,-1-7 0,12 34 0,1 33 0,-1 1 0,0 0 0,-7-27 0,5 36 0,0 0 0,1 0 0,0-1 0,1 1 0,1 0 0,1 0 0,2-19 0,-1 25 0,0 1 0,1-1 0,0 0 0,0 0 0,1 1 0,0 0 0,0 0 0,1 0 0,0 0 0,0 1 0,1 0 0,0 0 0,8-7 0,98-81 0,-104 90 0,-12 17 0,-15 17 0,-19 20 0,-31 44 0,66-88 0,-1-1 0,-1 1 0,1-1 0,-1 1 0,0-1 0,0-1 0,0 1 0,0-1 0,0 0 0,-1 0 0,0 0 0,-11 3 0,10-3 0,-1 0 0,1 0 0,0 1 0,0 0 0,0 0 0,1 1 0,-8 5 0,5 1 0,0 0 0,0 0 0,-9 17 0,11-16 0,-1-1 0,0 0 0,-14 15 0,-60 60 0,78-82 0,0 1 0,1-1 0,-1 1 0,1 0 0,0 0 0,0 1 0,1-1 0,-1 0 0,1 1 0,0 0 0,1-1 0,-1 1 0,1 0 0,0 0 0,1 0 0,-1 9 0,2 7 0,2 1 0,0-1 0,6 25 0,4 21 0,-10 121 0,-4-121 0,0-47 0,-1-1 0,-8 32 0,6-29 0,-4 34 0,6 122 0,3-99 0,2-48 0,2-1 0,0 0 0,2 0 0,16 43 0,-23-73 0,9 23 0,2 0 0,24 42 0,-19-38 0,14 32 0,-29-56 0,1-1 0,0 1 0,0-1 0,1 1 0,-1-1 0,1 0 0,0 0 0,-1 0 0,1 0 0,0-1 0,1 1 0,-1-1 0,0 0 0,1 0 0,0 0 0,-1 0 0,8 2 0,5 0 0,0 1 0,0-2 0,19 2 0,-5-1 0,-27-3 0,0-1 0,0 1 0,0-1 0,0 0 0,0 0 0,0 0 0,0-1 0,0 1 0,0 0 0,0-1 0,0 0 0,0 0 0,3-1 0,-4 0 0,0 1 0,0 0 0,-1-1 0,1 1 0,-1-1 0,1 1 0,-1-1 0,0 0 0,1 0 0,-1 0 0,0 0 0,0 1 0,0-1 0,-1-1 0,1 1 0,0 0 0,-1 0 0,1 0 0,-1-4 0,1-3 0,0 0 0,-1 0 0,-1-1 0,1 1 0,-2 0 0,1 0 0,-1 0 0,0 0 0,-1 0 0,0 0 0,-1 1 0,0 0 0,0-1 0,0 1 0,-8-9 0,-9-11 0,-1 1 0,-42-40 0,43 47 0,-31-28 0,33 32 0,1-1 0,-28-32 0,41 43 0,1-1 0,1 1 0,-1-1 0,1 0 0,1 0 0,-1 0 0,1 0 0,0-1 0,1 1 0,-2-14 0,2-8 0,3-44 0,1 24 0,-4 0 0,0 26 0,1 0 0,1 0 0,1 0 0,7-29 0,12-66 0,-11 52 0,-2-7 0,-7 53 0,0 0 0,10-39 0,-2 28 0,13-32 0,-17 51 0,1 1 0,0 0 0,0 0 0,1 1 0,16-19 0,36-41 0,-39 44 0,2 1 0,37-34 0,-35 38 0,-1-1 0,-1-1 0,20-28 0,-41 51 0,-1-1 0,1 0 0,-1 1 0,1-1 0,0 0 0,-1 1 0,1-1 0,-1 0 0,1 1 0,-1-1 0,0 0 0,1 0 0,-1 0 0,0 1 0,1-1 0,-1 0 0,0 0 0,0 0 0,0 0 0,0 0 0,0 0 0,0 1 0,0-1 0,0 0 0,0 0 0,0 0 0,-1 0 0,1 0 0,0 1 0,-1-1 0,1 0 0,0 0 0,-1 0 0,1 1 0,-1-1 0,1 0 0,-1 1 0,1-1 0,-1 0 0,0 1 0,1-1 0,-1 1 0,0-1 0,1 1 0,-1-1 0,0 1 0,0-1 0,0 1 0,1 0 0,-1-1 0,0 1 0,0 0 0,0 0 0,-1 0 0,-8-2 0,1 0 0,-1 1 0,-19-1 0,21 2 0,-20-1 0,0 1 0,0 2 0,0 0 0,0 2 0,-39 11 0,-117 45 0,168-52 0,1 0 0,1 1 0,-1 0 0,-17 16 0,26-21 0,-5 6 0,0 1 0,0 1 0,1 0 0,-16 25 0,0-2 0,-10 14 0,-36 60 0,64-92 0,0 0 0,-8 28 0,-8 19 0,23-61 0,-1-1 0,1 1 0,1 0 0,-1-1 0,0 1 0,1 0 0,0 0 0,-1 0 0,1-1 0,0 6 0,1-8 0,-1 1 0,0 0 0,0 0 0,0-1 0,1 1 0,-1 0 0,0-1 0,1 1 0,-1-1 0,0 1 0,1 0 0,-1-1 0,1 1 0,-1-1 0,1 1 0,-1-1 0,1 1 0,-1-1 0,1 1 0,0-1 0,-1 0 0,1 1 0,0-1 0,-1 0 0,1 0 0,0 1 0,-1-1 0,1 0 0,0 0 0,0 0 0,-1 0 0,1 0 0,0 0 0,-1 0 0,1 0 0,0 0 0,0 0 0,-1 0 0,1 0 0,0-1 0,-1 1 0,1 0 0,0-1 0,-1 1 0,1 0 0,1-1 0,7-4 0,0-1 0,0 0 0,0 0 0,-1 0 0,0-1 0,0-1 0,9-11 0,9-12 0,-15 17 0,0 1 0,1 0 0,17-14 0,-6 9 0,0 1 0,-2-1 0,30-31 0,133-140 0,-173 178 0,-2-1 0,1 0 0,-2-1 0,1 0 0,-2-1 0,0 1 0,8-22 0,-6 12 0,23-35 0,2-3 0,-26 44 0,1 1 0,0 0 0,23-29 0,-21 32 0,-1-1 0,-1-1 0,0 1 0,-1-2 0,11-29 0,-8 20 0,13-25 0,-23 48 0,0 1 0,0-1 0,0 0 0,0 0 0,1 1 0,-1-1 0,0 1 0,1-1 0,-1 1 0,1 0 0,-1-1 0,1 1 0,0 0 0,-1 0 0,1 0 0,0 0 0,0 0 0,0 1 0,0-1 0,3 0 0,-3 1 0,0 0 0,0 0 0,0 1 0,0-1 0,0 0 0,0 1 0,0 0 0,0-1 0,0 1 0,0 0 0,0 0 0,0 0 0,-1 0 0,1 1 0,0-1 0,2 2 0,0 2 0,1 0 0,-1 0 0,1 1 0,-1-1 0,-1 1 0,1 0 0,-1 0 0,0 0 0,-1 1 0,1-1 0,1 8 0,-1 11-1365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05:58:50.973"/>
    </inkml:context>
    <inkml:brush xml:id="br0">
      <inkml:brushProperty name="width" value="0.35" units="cm"/>
      <inkml:brushProperty name="height" value="0.35" units="cm"/>
      <inkml:brushProperty name="color" value="#EFF7F0"/>
    </inkml:brush>
  </inkml:definitions>
  <inkml:trace contextRef="#ctx0" brushRef="#br0">0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ED1E5B74-6C7E-47A6-808E-E1F23F45E192}" type="datetimeFigureOut">
              <a:rPr lang="en-IN" smtClean="0"/>
              <a:t>31-07-2026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070EEBEB-6629-46B3-99E6-F826B7F49051}" type="slidenum">
              <a:rPr lang="en-IN" smtClean="0"/>
              <a:t>‹#›</a:t>
            </a:fld>
            <a:endParaRPr lang="en-IN"/>
          </a:p>
        </p:txBody>
      </p:sp>
    </p:spTree>
    <p:extLst>
      <p:ext uri="{BB962C8B-B14F-4D97-AF65-F5344CB8AC3E}">
        <p14:creationId xmlns:p14="http://schemas.microsoft.com/office/powerpoint/2010/main" val="51159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70EEBEB-6629-46B3-99E6-F826B7F49051}" type="slidenum">
              <a:rPr lang="en-IN" smtClean="0"/>
              <a:t>3</a:t>
            </a:fld>
            <a:endParaRPr lang="en-IN"/>
          </a:p>
        </p:txBody>
      </p:sp>
    </p:spTree>
    <p:extLst>
      <p:ext uri="{BB962C8B-B14F-4D97-AF65-F5344CB8AC3E}">
        <p14:creationId xmlns:p14="http://schemas.microsoft.com/office/powerpoint/2010/main" val="14346557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30427" y="555497"/>
            <a:ext cx="3181985" cy="696594"/>
          </a:xfrm>
          <a:prstGeom prst="rect">
            <a:avLst/>
          </a:prstGeom>
        </p:spPr>
        <p:txBody>
          <a:bodyPr wrap="square" lIns="0" tIns="0" rIns="0" bIns="0">
            <a:spAutoFit/>
          </a:bodyPr>
          <a:lstStyle>
            <a:lvl1pPr>
              <a:defRPr sz="3200" b="0" i="0">
                <a:solidFill>
                  <a:schemeClr val="tx1"/>
                </a:solidFill>
                <a:latin typeface="Calibri Light"/>
                <a:cs typeface="Calibri Ligh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35" dirty="0"/>
              <a:t>Dr.</a:t>
            </a:r>
            <a:r>
              <a:rPr spc="-20" dirty="0"/>
              <a:t> </a:t>
            </a:r>
            <a:r>
              <a:rPr dirty="0"/>
              <a:t>Divya</a:t>
            </a:r>
            <a:r>
              <a:rPr spc="-25" dirty="0"/>
              <a:t> </a:t>
            </a:r>
            <a:r>
              <a:rPr spc="-10" dirty="0"/>
              <a:t>Agarwal</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7/31/2026</a:t>
            </a:fld>
            <a:endParaRPr lang="en-US"/>
          </a:p>
        </p:txBody>
      </p:sp>
      <p:sp>
        <p:nvSpPr>
          <p:cNvPr id="6" name="Holder 6"/>
          <p:cNvSpPr>
            <a:spLocks noGrp="1"/>
          </p:cNvSpPr>
          <p:nvPr>
            <p:ph type="sldNum" sz="quarter" idx="7"/>
          </p:nvPr>
        </p:nvSpPr>
        <p:spPr/>
        <p:txBody>
          <a:bodyPr lIns="0" tIns="0" rIns="0" bIns="0"/>
          <a:lstStyle>
            <a:lvl1pPr>
              <a:defRPr sz="1500" b="0" i="0">
                <a:solidFill>
                  <a:srgbClr val="888888"/>
                </a:solidFill>
                <a:latin typeface="Calibri"/>
                <a:cs typeface="Calibri"/>
              </a:defRPr>
            </a:lvl1pPr>
          </a:lstStyle>
          <a:p>
            <a:pPr marL="38100">
              <a:lnSpc>
                <a:spcPts val="1525"/>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35" dirty="0"/>
              <a:t>Dr.</a:t>
            </a:r>
            <a:r>
              <a:rPr spc="-20" dirty="0"/>
              <a:t> </a:t>
            </a:r>
            <a:r>
              <a:rPr dirty="0"/>
              <a:t>Divya</a:t>
            </a:r>
            <a:r>
              <a:rPr spc="-25" dirty="0"/>
              <a:t> </a:t>
            </a:r>
            <a:r>
              <a:rPr spc="-10" dirty="0"/>
              <a:t>Agarwal</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7/31/2026</a:t>
            </a:fld>
            <a:endParaRPr lang="en-US"/>
          </a:p>
        </p:txBody>
      </p:sp>
      <p:sp>
        <p:nvSpPr>
          <p:cNvPr id="6" name="Holder 6"/>
          <p:cNvSpPr>
            <a:spLocks noGrp="1"/>
          </p:cNvSpPr>
          <p:nvPr>
            <p:ph type="sldNum" sz="quarter" idx="7"/>
          </p:nvPr>
        </p:nvSpPr>
        <p:spPr/>
        <p:txBody>
          <a:bodyPr lIns="0" tIns="0" rIns="0" bIns="0"/>
          <a:lstStyle>
            <a:lvl1pPr>
              <a:defRPr sz="1500" b="0" i="0">
                <a:solidFill>
                  <a:srgbClr val="888888"/>
                </a:solidFill>
                <a:latin typeface="Calibri"/>
                <a:cs typeface="Calibri"/>
              </a:defRPr>
            </a:lvl1pPr>
          </a:lstStyle>
          <a:p>
            <a:pPr marL="38100">
              <a:lnSpc>
                <a:spcPts val="1525"/>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Calibri Light"/>
                <a:cs typeface="Calibri Light"/>
              </a:defRPr>
            </a:lvl1pPr>
          </a:lstStyle>
          <a:p>
            <a:endParaRPr/>
          </a:p>
        </p:txBody>
      </p:sp>
      <p:sp>
        <p:nvSpPr>
          <p:cNvPr id="3" name="Holder 3"/>
          <p:cNvSpPr>
            <a:spLocks noGrp="1"/>
          </p:cNvSpPr>
          <p:nvPr>
            <p:ph sz="half" idx="2"/>
          </p:nvPr>
        </p:nvSpPr>
        <p:spPr>
          <a:xfrm>
            <a:off x="78739" y="1690082"/>
            <a:ext cx="4959350" cy="4047490"/>
          </a:xfrm>
          <a:prstGeom prst="rect">
            <a:avLst/>
          </a:prstGeom>
        </p:spPr>
        <p:txBody>
          <a:bodyPr wrap="square" lIns="0" tIns="0" rIns="0" bIns="0">
            <a:spAutoFit/>
          </a:bodyPr>
          <a:lstStyle>
            <a:lvl1pPr>
              <a:defRPr sz="2200" b="1" i="0">
                <a:solidFill>
                  <a:schemeClr val="tx1"/>
                </a:solidFill>
                <a:latin typeface="Calibri"/>
                <a:cs typeface="Calibri"/>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35" dirty="0"/>
              <a:t>Dr.</a:t>
            </a:r>
            <a:r>
              <a:rPr spc="-20" dirty="0"/>
              <a:t> </a:t>
            </a:r>
            <a:r>
              <a:rPr dirty="0"/>
              <a:t>Divya</a:t>
            </a:r>
            <a:r>
              <a:rPr spc="-25" dirty="0"/>
              <a:t> </a:t>
            </a:r>
            <a:r>
              <a:rPr spc="-10" dirty="0"/>
              <a:t>Agarwal</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7/31/2026</a:t>
            </a:fld>
            <a:endParaRPr lang="en-US"/>
          </a:p>
        </p:txBody>
      </p:sp>
      <p:sp>
        <p:nvSpPr>
          <p:cNvPr id="7" name="Holder 7"/>
          <p:cNvSpPr>
            <a:spLocks noGrp="1"/>
          </p:cNvSpPr>
          <p:nvPr>
            <p:ph type="sldNum" sz="quarter" idx="7"/>
          </p:nvPr>
        </p:nvSpPr>
        <p:spPr/>
        <p:txBody>
          <a:bodyPr lIns="0" tIns="0" rIns="0" bIns="0"/>
          <a:lstStyle>
            <a:lvl1pPr>
              <a:defRPr sz="1500" b="0" i="0">
                <a:solidFill>
                  <a:srgbClr val="888888"/>
                </a:solidFill>
                <a:latin typeface="Calibri"/>
                <a:cs typeface="Calibri"/>
              </a:defRPr>
            </a:lvl1pPr>
          </a:lstStyle>
          <a:p>
            <a:pPr marL="38100">
              <a:lnSpc>
                <a:spcPts val="1525"/>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35" dirty="0"/>
              <a:t>Dr.</a:t>
            </a:r>
            <a:r>
              <a:rPr spc="-20" dirty="0"/>
              <a:t> </a:t>
            </a:r>
            <a:r>
              <a:rPr dirty="0"/>
              <a:t>Divya</a:t>
            </a:r>
            <a:r>
              <a:rPr spc="-25" dirty="0"/>
              <a:t> </a:t>
            </a:r>
            <a:r>
              <a:rPr spc="-10" dirty="0"/>
              <a:t>Agarwal</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7/31/2026</a:t>
            </a:fld>
            <a:endParaRPr lang="en-US"/>
          </a:p>
        </p:txBody>
      </p:sp>
      <p:sp>
        <p:nvSpPr>
          <p:cNvPr id="5" name="Holder 5"/>
          <p:cNvSpPr>
            <a:spLocks noGrp="1"/>
          </p:cNvSpPr>
          <p:nvPr>
            <p:ph type="sldNum" sz="quarter" idx="7"/>
          </p:nvPr>
        </p:nvSpPr>
        <p:spPr/>
        <p:txBody>
          <a:bodyPr lIns="0" tIns="0" rIns="0" bIns="0"/>
          <a:lstStyle>
            <a:lvl1pPr>
              <a:defRPr sz="1500" b="0" i="0">
                <a:solidFill>
                  <a:srgbClr val="888888"/>
                </a:solidFill>
                <a:latin typeface="Calibri"/>
                <a:cs typeface="Calibri"/>
              </a:defRPr>
            </a:lvl1pPr>
          </a:lstStyle>
          <a:p>
            <a:pPr marL="38100">
              <a:lnSpc>
                <a:spcPts val="1525"/>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35" dirty="0"/>
              <a:t>Dr.</a:t>
            </a:r>
            <a:r>
              <a:rPr spc="-20" dirty="0"/>
              <a:t> </a:t>
            </a:r>
            <a:r>
              <a:rPr dirty="0"/>
              <a:t>Divya</a:t>
            </a:r>
            <a:r>
              <a:rPr spc="-25" dirty="0"/>
              <a:t> </a:t>
            </a:r>
            <a:r>
              <a:rPr spc="-10" dirty="0"/>
              <a:t>Agarwal</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7/31/2026</a:t>
            </a:fld>
            <a:endParaRPr lang="en-US"/>
          </a:p>
        </p:txBody>
      </p:sp>
      <p:sp>
        <p:nvSpPr>
          <p:cNvPr id="4" name="Holder 4"/>
          <p:cNvSpPr>
            <a:spLocks noGrp="1"/>
          </p:cNvSpPr>
          <p:nvPr>
            <p:ph type="sldNum" sz="quarter" idx="7"/>
          </p:nvPr>
        </p:nvSpPr>
        <p:spPr/>
        <p:txBody>
          <a:bodyPr lIns="0" tIns="0" rIns="0" bIns="0"/>
          <a:lstStyle>
            <a:lvl1pPr>
              <a:defRPr sz="1500" b="0" i="0">
                <a:solidFill>
                  <a:srgbClr val="888888"/>
                </a:solidFill>
                <a:latin typeface="Calibri"/>
                <a:cs typeface="Calibri"/>
              </a:defRPr>
            </a:lvl1pPr>
          </a:lstStyle>
          <a:p>
            <a:pPr marL="38100">
              <a:lnSpc>
                <a:spcPts val="1525"/>
              </a:lnSpc>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385335"/>
            <a:ext cx="12192000" cy="6472663"/>
          </a:xfrm>
          <a:prstGeom prst="rect">
            <a:avLst/>
          </a:prstGeom>
        </p:spPr>
      </p:pic>
      <p:sp>
        <p:nvSpPr>
          <p:cNvPr id="2" name="Holder 2"/>
          <p:cNvSpPr>
            <a:spLocks noGrp="1"/>
          </p:cNvSpPr>
          <p:nvPr>
            <p:ph type="title"/>
          </p:nvPr>
        </p:nvSpPr>
        <p:spPr>
          <a:xfrm>
            <a:off x="78739" y="332943"/>
            <a:ext cx="8373109" cy="905764"/>
          </a:xfrm>
          <a:prstGeom prst="rect">
            <a:avLst/>
          </a:prstGeom>
        </p:spPr>
        <p:txBody>
          <a:bodyPr wrap="square" lIns="0" tIns="0" rIns="0" bIns="0">
            <a:spAutoFit/>
          </a:bodyPr>
          <a:lstStyle>
            <a:lvl1pPr>
              <a:defRPr sz="3200" b="0" i="0">
                <a:solidFill>
                  <a:schemeClr val="tx1"/>
                </a:solidFill>
                <a:latin typeface="Calibri Light"/>
                <a:cs typeface="Calibri Light"/>
              </a:defRPr>
            </a:lvl1pPr>
          </a:lstStyle>
          <a:p>
            <a:endParaRPr/>
          </a:p>
        </p:txBody>
      </p:sp>
      <p:sp>
        <p:nvSpPr>
          <p:cNvPr id="3" name="Holder 3"/>
          <p:cNvSpPr>
            <a:spLocks noGrp="1"/>
          </p:cNvSpPr>
          <p:nvPr>
            <p:ph type="body" idx="1"/>
          </p:nvPr>
        </p:nvSpPr>
        <p:spPr>
          <a:xfrm>
            <a:off x="518261" y="2000250"/>
            <a:ext cx="10793730" cy="3427095"/>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5545073" y="6464680"/>
            <a:ext cx="1102995" cy="178434"/>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ts val="1240"/>
              </a:lnSpc>
            </a:pPr>
            <a:r>
              <a:rPr spc="-35" dirty="0"/>
              <a:t>Dr.</a:t>
            </a:r>
            <a:r>
              <a:rPr spc="-20" dirty="0"/>
              <a:t> </a:t>
            </a:r>
            <a:r>
              <a:rPr dirty="0"/>
              <a:t>Divya</a:t>
            </a:r>
            <a:r>
              <a:rPr spc="-25" dirty="0"/>
              <a:t> </a:t>
            </a:r>
            <a:r>
              <a:rPr spc="-10" dirty="0"/>
              <a:t>Agarwal</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7/31/2026</a:t>
            </a:fld>
            <a:endParaRPr lang="en-US"/>
          </a:p>
        </p:txBody>
      </p:sp>
      <p:sp>
        <p:nvSpPr>
          <p:cNvPr id="6" name="Holder 6"/>
          <p:cNvSpPr>
            <a:spLocks noGrp="1"/>
          </p:cNvSpPr>
          <p:nvPr>
            <p:ph type="sldNum" sz="quarter" idx="7"/>
          </p:nvPr>
        </p:nvSpPr>
        <p:spPr>
          <a:xfrm>
            <a:off x="11590655" y="6363792"/>
            <a:ext cx="374522" cy="337210"/>
          </a:xfrm>
          <a:prstGeom prst="rect">
            <a:avLst/>
          </a:prstGeom>
        </p:spPr>
        <p:txBody>
          <a:bodyPr wrap="square" lIns="0" tIns="0" rIns="0" bIns="0">
            <a:spAutoFit/>
          </a:bodyPr>
          <a:lstStyle>
            <a:lvl1pPr>
              <a:defRPr sz="1500" b="0" i="0">
                <a:solidFill>
                  <a:srgbClr val="888888"/>
                </a:solidFill>
                <a:latin typeface="Calibri"/>
                <a:cs typeface="Calibri"/>
              </a:defRPr>
            </a:lvl1pPr>
          </a:lstStyle>
          <a:p>
            <a:pPr marL="38100">
              <a:lnSpc>
                <a:spcPts val="1525"/>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8" Type="http://schemas.openxmlformats.org/officeDocument/2006/relationships/customXml" Target="../ink/ink5.xml"/><Relationship Id="rId3" Type="http://schemas.openxmlformats.org/officeDocument/2006/relationships/image" Target="../media/image12.png"/><Relationship Id="rId7" Type="http://schemas.openxmlformats.org/officeDocument/2006/relationships/image" Target="../media/image14.png"/><Relationship Id="rId2" Type="http://schemas.openxmlformats.org/officeDocument/2006/relationships/customXml" Target="../ink/ink2.xml"/><Relationship Id="rId1" Type="http://schemas.openxmlformats.org/officeDocument/2006/relationships/slideLayout" Target="../slideLayouts/slideLayout2.xml"/><Relationship Id="rId6" Type="http://schemas.openxmlformats.org/officeDocument/2006/relationships/customXml" Target="../ink/ink4.xml"/><Relationship Id="rId5" Type="http://schemas.openxmlformats.org/officeDocument/2006/relationships/image" Target="../media/image13.png"/><Relationship Id="rId10" Type="http://schemas.openxmlformats.org/officeDocument/2006/relationships/image" Target="../media/image15.png"/><Relationship Id="rId4" Type="http://schemas.openxmlformats.org/officeDocument/2006/relationships/customXml" Target="../ink/ink3.xml"/><Relationship Id="rId9" Type="http://schemas.openxmlformats.org/officeDocument/2006/relationships/customXml" Target="../ink/ink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2.png"/><Relationship Id="rId7" Type="http://schemas.openxmlformats.org/officeDocument/2006/relationships/image" Target="../media/image14.png"/><Relationship Id="rId2" Type="http://schemas.openxmlformats.org/officeDocument/2006/relationships/customXml" Target="../ink/ink7.xml"/><Relationship Id="rId1" Type="http://schemas.openxmlformats.org/officeDocument/2006/relationships/slideLayout" Target="../slideLayouts/slideLayout2.xml"/><Relationship Id="rId6" Type="http://schemas.openxmlformats.org/officeDocument/2006/relationships/customXml" Target="../ink/ink9.xml"/><Relationship Id="rId11" Type="http://schemas.openxmlformats.org/officeDocument/2006/relationships/customXml" Target="../ink/ink11.xml"/><Relationship Id="rId5" Type="http://schemas.openxmlformats.org/officeDocument/2006/relationships/image" Target="../media/image13.png"/><Relationship Id="rId10" Type="http://schemas.openxmlformats.org/officeDocument/2006/relationships/image" Target="../media/image20.png"/><Relationship Id="rId4" Type="http://schemas.openxmlformats.org/officeDocument/2006/relationships/customXml" Target="../ink/ink8.xml"/><Relationship Id="rId9" Type="http://schemas.openxmlformats.org/officeDocument/2006/relationships/customXml" Target="../ink/ink10.xml"/></Relationships>
</file>

<file path=ppt/slides/_rels/slide1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doi.org/10.1038/s41598-024-64885-w" TargetMode="External"/><Relationship Id="rId7" Type="http://schemas.openxmlformats.org/officeDocument/2006/relationships/hyperlink" Target="https://www.kaggle.com/datasets/rawsi18/new-delhi-traffic-probe-and-analytics-2024" TargetMode="External"/><Relationship Id="rId2" Type="http://schemas.openxmlformats.org/officeDocument/2006/relationships/hyperlink" Target="https://doi.org/10.1038/s41598-024-75638-0" TargetMode="External"/><Relationship Id="rId1" Type="http://schemas.openxmlformats.org/officeDocument/2006/relationships/slideLayout" Target="../slideLayouts/slideLayout2.xml"/><Relationship Id="rId6" Type="http://schemas.openxmlformats.org/officeDocument/2006/relationships/hyperlink" Target="https://doi.org/10.1016/j.measurement.2024.116233" TargetMode="External"/><Relationship Id="rId5" Type="http://schemas.openxmlformats.org/officeDocument/2006/relationships/hyperlink" Target="https://doi.org/10.3390/s21072302" TargetMode="External"/><Relationship Id="rId4" Type="http://schemas.openxmlformats.org/officeDocument/2006/relationships/hyperlink" Target="https://doi.org/10.1038/s41598-025-91966-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2576" y="1295400"/>
            <a:ext cx="11606848" cy="3919663"/>
          </a:xfrm>
          <a:prstGeom prst="rect">
            <a:avLst/>
          </a:prstGeom>
        </p:spPr>
        <p:txBody>
          <a:bodyPr vert="horz" wrap="square" lIns="0" tIns="13335" rIns="0" bIns="0" rtlCol="0">
            <a:spAutoFit/>
          </a:bodyPr>
          <a:lstStyle/>
          <a:p>
            <a:pPr marL="12700" marR="5080" algn="ctr">
              <a:lnSpc>
                <a:spcPct val="100000"/>
              </a:lnSpc>
              <a:spcBef>
                <a:spcPts val="105"/>
              </a:spcBef>
            </a:pPr>
            <a:r>
              <a:rPr lang="en-US" sz="6600" b="1" dirty="0">
                <a:solidFill>
                  <a:schemeClr val="tx1"/>
                </a:solidFill>
                <a:latin typeface="Calibri"/>
                <a:cs typeface="Calibri"/>
              </a:rPr>
              <a:t>MINOR PROJECT:</a:t>
            </a:r>
          </a:p>
          <a:p>
            <a:pPr marL="12700" marR="5080" algn="ctr">
              <a:lnSpc>
                <a:spcPct val="100000"/>
              </a:lnSpc>
              <a:spcBef>
                <a:spcPts val="105"/>
              </a:spcBef>
            </a:pPr>
            <a:r>
              <a:rPr lang="en-US" sz="4800" b="1" dirty="0">
                <a:solidFill>
                  <a:schemeClr val="tx1"/>
                </a:solidFill>
              </a:rPr>
              <a:t>Reinforcement Learning for Traffic Signal Control in SUMO</a:t>
            </a:r>
            <a:endParaRPr lang="en-IN" sz="4800" b="1" dirty="0">
              <a:solidFill>
                <a:schemeClr val="tx1"/>
              </a:solidFill>
              <a:latin typeface="Calibri"/>
              <a:cs typeface="Calibri"/>
            </a:endParaRPr>
          </a:p>
          <a:p>
            <a:pPr marL="1905" algn="r">
              <a:lnSpc>
                <a:spcPct val="100000"/>
              </a:lnSpc>
              <a:spcBef>
                <a:spcPts val="6609"/>
              </a:spcBef>
            </a:pPr>
            <a:endParaRPr lang="en-US" sz="3600" b="1" dirty="0">
              <a:solidFill>
                <a:srgbClr val="212A35"/>
              </a:solidFill>
              <a:latin typeface="Calibri"/>
              <a:cs typeface="Calibri"/>
            </a:endParaRPr>
          </a:p>
        </p:txBody>
      </p:sp>
      <p:sp>
        <p:nvSpPr>
          <p:cNvPr id="4" name="TextBox 3">
            <a:extLst>
              <a:ext uri="{FF2B5EF4-FFF2-40B4-BE49-F238E27FC236}">
                <a16:creationId xmlns:a16="http://schemas.microsoft.com/office/drawing/2014/main" id="{8E6AEB3D-C17C-F8C1-1356-B1D26D95AC52}"/>
              </a:ext>
            </a:extLst>
          </p:cNvPr>
          <p:cNvSpPr txBox="1"/>
          <p:nvPr/>
        </p:nvSpPr>
        <p:spPr>
          <a:xfrm>
            <a:off x="7239000" y="4654659"/>
            <a:ext cx="5181600" cy="954107"/>
          </a:xfrm>
          <a:prstGeom prst="rect">
            <a:avLst/>
          </a:prstGeom>
          <a:noFill/>
        </p:spPr>
        <p:txBody>
          <a:bodyPr wrap="square" rtlCol="0">
            <a:spAutoFit/>
          </a:bodyPr>
          <a:lstStyle/>
          <a:p>
            <a:pPr algn="just"/>
            <a:r>
              <a:rPr lang="en-US" sz="2800" b="1" dirty="0"/>
              <a:t>Submitted by:</a:t>
            </a:r>
          </a:p>
          <a:p>
            <a:pPr algn="just"/>
            <a:r>
              <a:rPr lang="en-US" sz="2800" b="1" dirty="0"/>
              <a:t>Anand, 08217711922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F6062-8E02-20AB-752C-FB8B06A02F8B}"/>
              </a:ext>
            </a:extLst>
          </p:cNvPr>
          <p:cNvSpPr>
            <a:spLocks noGrp="1"/>
          </p:cNvSpPr>
          <p:nvPr>
            <p:ph type="title"/>
          </p:nvPr>
        </p:nvSpPr>
        <p:spPr>
          <a:xfrm>
            <a:off x="228600" y="533400"/>
            <a:ext cx="8373109" cy="553998"/>
          </a:xfrm>
        </p:spPr>
        <p:txBody>
          <a:bodyPr/>
          <a:lstStyle/>
          <a:p>
            <a:r>
              <a:rPr lang="en-US" sz="3600" b="1" dirty="0">
                <a:latin typeface="+mj-lt"/>
              </a:rPr>
              <a:t>INTRODUCTION TO PROJECT</a:t>
            </a:r>
            <a:endParaRPr lang="en-IN" sz="3600" b="1" dirty="0">
              <a:latin typeface="+mj-lt"/>
            </a:endParaRPr>
          </a:p>
        </p:txBody>
      </p:sp>
      <p:sp>
        <p:nvSpPr>
          <p:cNvPr id="3" name="Text Placeholder 2">
            <a:extLst>
              <a:ext uri="{FF2B5EF4-FFF2-40B4-BE49-F238E27FC236}">
                <a16:creationId xmlns:a16="http://schemas.microsoft.com/office/drawing/2014/main" id="{2B3B62AE-25B9-50FC-D2B5-2EA8A2F80501}"/>
              </a:ext>
            </a:extLst>
          </p:cNvPr>
          <p:cNvSpPr>
            <a:spLocks noGrp="1"/>
          </p:cNvSpPr>
          <p:nvPr>
            <p:ph type="body" idx="1"/>
          </p:nvPr>
        </p:nvSpPr>
        <p:spPr>
          <a:xfrm>
            <a:off x="457200" y="1676400"/>
            <a:ext cx="10793730" cy="4308872"/>
          </a:xfrm>
        </p:spPr>
        <p:txBody>
          <a:bodyPr/>
          <a:lstStyle/>
          <a:p>
            <a:pPr marL="457200" indent="-457200">
              <a:buFont typeface="Arial" panose="020B0604020202020204" pitchFamily="34" charset="0"/>
              <a:buChar char="•"/>
            </a:pPr>
            <a:r>
              <a:rPr lang="en-US" dirty="0"/>
              <a:t>The project leverages the Simulation of Urban </a:t>
            </a:r>
            <a:r>
              <a:rPr lang="en-US" dirty="0" err="1"/>
              <a:t>MObility</a:t>
            </a:r>
            <a:r>
              <a:rPr lang="en-US" dirty="0"/>
              <a:t> (SUMO) environment, a powerful open-source tool for microscopic traffic simulation. </a:t>
            </a:r>
          </a:p>
          <a:p>
            <a:pPr marL="457200" indent="-457200">
              <a:buFont typeface="Arial" panose="020B0604020202020204" pitchFamily="34" charset="0"/>
              <a:buChar char="•"/>
            </a:pPr>
            <a:r>
              <a:rPr lang="en-US" dirty="0"/>
              <a:t>The primary objective is to develop and implement both a Q-Learning and a Deep Q-Learning algorithm and rigorously compare their performance against a traditional static (fixed-time) traffic signal controller—for adaptive traffic signal control. </a:t>
            </a:r>
          </a:p>
          <a:p>
            <a:pPr marL="457200" indent="-457200">
              <a:buFont typeface="Arial" panose="020B0604020202020204" pitchFamily="34" charset="0"/>
              <a:buChar char="•"/>
            </a:pPr>
            <a:r>
              <a:rPr lang="en-US" dirty="0"/>
              <a:t>By evaluating metrics such as cumulative reward and total queue length, this analysis aims to demonstrate the significant advantages of adaptive, learning-based systems in optimizing urban traffic flow. </a:t>
            </a:r>
            <a:endParaRPr lang="en-IN" dirty="0"/>
          </a:p>
        </p:txBody>
      </p:sp>
    </p:spTree>
    <p:extLst>
      <p:ext uri="{BB962C8B-B14F-4D97-AF65-F5344CB8AC3E}">
        <p14:creationId xmlns:p14="http://schemas.microsoft.com/office/powerpoint/2010/main" val="2274585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35D53-3010-2507-2B84-3E8949B1D4F8}"/>
              </a:ext>
            </a:extLst>
          </p:cNvPr>
          <p:cNvSpPr>
            <a:spLocks noGrp="1"/>
          </p:cNvSpPr>
          <p:nvPr>
            <p:ph type="title"/>
          </p:nvPr>
        </p:nvSpPr>
        <p:spPr>
          <a:xfrm>
            <a:off x="10886" y="533400"/>
            <a:ext cx="9751061" cy="984885"/>
          </a:xfrm>
        </p:spPr>
        <p:txBody>
          <a:bodyPr/>
          <a:lstStyle/>
          <a:p>
            <a:r>
              <a:rPr lang="en-IN" b="1" dirty="0">
                <a:latin typeface="CaIibri"/>
              </a:rPr>
              <a:t>Simulation Environment and Network Configuration</a:t>
            </a:r>
          </a:p>
        </p:txBody>
      </p:sp>
      <p:sp>
        <p:nvSpPr>
          <p:cNvPr id="3" name="Text Placeholder 2">
            <a:extLst>
              <a:ext uri="{FF2B5EF4-FFF2-40B4-BE49-F238E27FC236}">
                <a16:creationId xmlns:a16="http://schemas.microsoft.com/office/drawing/2014/main" id="{BFB485A2-67BA-1EDF-4775-3A4C9D3EA106}"/>
              </a:ext>
            </a:extLst>
          </p:cNvPr>
          <p:cNvSpPr>
            <a:spLocks noGrp="1"/>
          </p:cNvSpPr>
          <p:nvPr>
            <p:ph type="body" idx="1"/>
          </p:nvPr>
        </p:nvSpPr>
        <p:spPr>
          <a:xfrm>
            <a:off x="381000" y="1371600"/>
            <a:ext cx="11430000" cy="4062651"/>
          </a:xfrm>
        </p:spPr>
        <p:txBody>
          <a:bodyPr/>
          <a:lstStyle/>
          <a:p>
            <a:r>
              <a:rPr lang="en-US" sz="2400" dirty="0"/>
              <a:t>Software Prerequisites:</a:t>
            </a:r>
          </a:p>
          <a:p>
            <a:endParaRPr lang="en-US" sz="2400" dirty="0"/>
          </a:p>
          <a:p>
            <a:pPr marL="342900" indent="-342900">
              <a:buFont typeface="Arial" panose="020B0604020202020204" pitchFamily="34" charset="0"/>
              <a:buChar char="•"/>
            </a:pPr>
            <a:r>
              <a:rPr lang="en-US" sz="2400" dirty="0"/>
              <a:t>SUMO (Simulation of Urban </a:t>
            </a:r>
            <a:r>
              <a:rPr lang="en-US" sz="2400" dirty="0" err="1"/>
              <a:t>MObility</a:t>
            </a:r>
            <a:r>
              <a:rPr lang="en-US" sz="2400" dirty="0"/>
              <a:t>): The core traffic simulation suite. </a:t>
            </a:r>
          </a:p>
          <a:p>
            <a:pPr marL="342900" indent="-342900">
              <a:buFont typeface="Arial" panose="020B0604020202020204" pitchFamily="34" charset="0"/>
              <a:buChar char="•"/>
            </a:pPr>
            <a:r>
              <a:rPr lang="en-US" sz="2400" dirty="0"/>
              <a:t>Visual Studio Code: A recommended Python IDE, though any preferred editor can be used. </a:t>
            </a:r>
          </a:p>
          <a:p>
            <a:pPr marL="342900" indent="-342900">
              <a:buFont typeface="Arial" panose="020B0604020202020204" pitchFamily="34" charset="0"/>
              <a:buChar char="•"/>
            </a:pPr>
            <a:r>
              <a:rPr lang="en-US" sz="2400" dirty="0"/>
              <a:t>Python: The programming language used to implement the reinforcement learning agents and interact with SUMO via the </a:t>
            </a:r>
            <a:r>
              <a:rPr lang="en-US" sz="2400" dirty="0" err="1"/>
              <a:t>TraCI</a:t>
            </a:r>
            <a:r>
              <a:rPr lang="en-US" sz="2400" dirty="0"/>
              <a:t> API(</a:t>
            </a:r>
            <a:r>
              <a:rPr lang="en-US" sz="2400" b="1" dirty="0" err="1"/>
              <a:t>TraCI</a:t>
            </a:r>
            <a:r>
              <a:rPr lang="en-US" sz="2400" dirty="0"/>
              <a:t> stands for </a:t>
            </a:r>
            <a:r>
              <a:rPr lang="en-US" sz="2400" b="1" dirty="0"/>
              <a:t>Traffic Control </a:t>
            </a:r>
            <a:r>
              <a:rPr lang="en-US" sz="2400" b="1" dirty="0" err="1"/>
              <a:t>Interface</a:t>
            </a:r>
            <a:r>
              <a:rPr lang="en-US" sz="2400" dirty="0" err="1"/>
              <a:t>.It’s</a:t>
            </a:r>
            <a:r>
              <a:rPr lang="en-US" sz="2400" dirty="0"/>
              <a:t> a </a:t>
            </a:r>
            <a:r>
              <a:rPr lang="en-US" sz="2400" b="1" dirty="0"/>
              <a:t>Python (and C++) API</a:t>
            </a:r>
            <a:r>
              <a:rPr lang="en-US" sz="2400" dirty="0"/>
              <a:t> that allows </a:t>
            </a:r>
            <a:r>
              <a:rPr lang="en-US" sz="2400" b="1" dirty="0"/>
              <a:t>external programs</a:t>
            </a:r>
            <a:r>
              <a:rPr lang="en-US" sz="2400" dirty="0"/>
              <a:t> to control and interact with </a:t>
            </a:r>
            <a:r>
              <a:rPr lang="en-US" sz="2400" b="1" dirty="0"/>
              <a:t>SUMO</a:t>
            </a:r>
            <a:r>
              <a:rPr lang="en-US" sz="2400" dirty="0"/>
              <a:t> (Simulation of Urban Mobility) </a:t>
            </a:r>
            <a:r>
              <a:rPr lang="en-US" sz="2400" b="1" dirty="0"/>
              <a:t>in real-time</a:t>
            </a:r>
            <a:r>
              <a:rPr lang="en-US" sz="2400" dirty="0"/>
              <a:t>.</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 </a:t>
            </a:r>
            <a:r>
              <a:rPr lang="en-US" sz="2400" b="1" dirty="0"/>
              <a:t>Libraries</a:t>
            </a:r>
            <a:r>
              <a:rPr lang="en-US" sz="2400" dirty="0"/>
              <a:t> required are </a:t>
            </a:r>
            <a:r>
              <a:rPr lang="en-US" sz="2400" dirty="0" err="1"/>
              <a:t>Tensorflow</a:t>
            </a:r>
            <a:r>
              <a:rPr lang="en-US" sz="2400" dirty="0"/>
              <a:t>, </a:t>
            </a:r>
            <a:r>
              <a:rPr lang="en-US" sz="2400" dirty="0" err="1"/>
              <a:t>Numpy</a:t>
            </a:r>
            <a:r>
              <a:rPr lang="en-US" sz="2400" dirty="0"/>
              <a:t> and Matplotlib.</a:t>
            </a:r>
            <a:endParaRPr lang="en-IN" sz="2400" dirty="0"/>
          </a:p>
        </p:txBody>
      </p:sp>
      <p:pic>
        <p:nvPicPr>
          <p:cNvPr id="1026" name="Picture 2" descr="GitHub - eclipse-sumo/sumo: Eclipse SUMO is an open source, highly  portable, microscopic and continuous traffic simulation package designed to  handle large networks. It allows for intermodal simulation including  pedestrians and comes with">
            <a:extLst>
              <a:ext uri="{FF2B5EF4-FFF2-40B4-BE49-F238E27FC236}">
                <a16:creationId xmlns:a16="http://schemas.microsoft.com/office/drawing/2014/main" id="{BFADF9DB-EA56-7CC6-F3D2-4411E44DA27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78824" y="4753356"/>
            <a:ext cx="2932176" cy="1466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87926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835DC-1934-AA13-5B3D-ADF5964722F9}"/>
              </a:ext>
            </a:extLst>
          </p:cNvPr>
          <p:cNvSpPr>
            <a:spLocks noGrp="1"/>
          </p:cNvSpPr>
          <p:nvPr>
            <p:ph type="title"/>
          </p:nvPr>
        </p:nvSpPr>
        <p:spPr>
          <a:xfrm>
            <a:off x="152400" y="533400"/>
            <a:ext cx="8373109" cy="492443"/>
          </a:xfrm>
        </p:spPr>
        <p:txBody>
          <a:bodyPr/>
          <a:lstStyle/>
          <a:p>
            <a:r>
              <a:rPr lang="en-IN" b="1" dirty="0">
                <a:latin typeface="Calibri "/>
              </a:rPr>
              <a:t>Network Construction in </a:t>
            </a:r>
            <a:r>
              <a:rPr lang="en-IN" b="1" dirty="0" err="1">
                <a:latin typeface="Calibri "/>
              </a:rPr>
              <a:t>Netedit</a:t>
            </a:r>
            <a:r>
              <a:rPr lang="en-IN" b="1" dirty="0">
                <a:latin typeface="Calibri "/>
              </a:rPr>
              <a:t> </a:t>
            </a:r>
          </a:p>
        </p:txBody>
      </p:sp>
      <p:sp>
        <p:nvSpPr>
          <p:cNvPr id="3" name="Text Placeholder 2">
            <a:extLst>
              <a:ext uri="{FF2B5EF4-FFF2-40B4-BE49-F238E27FC236}">
                <a16:creationId xmlns:a16="http://schemas.microsoft.com/office/drawing/2014/main" id="{542E5149-2FC3-4833-FEC8-0F7AA7511B9E}"/>
              </a:ext>
            </a:extLst>
          </p:cNvPr>
          <p:cNvSpPr>
            <a:spLocks noGrp="1"/>
          </p:cNvSpPr>
          <p:nvPr>
            <p:ph type="body" idx="1"/>
          </p:nvPr>
        </p:nvSpPr>
        <p:spPr>
          <a:xfrm>
            <a:off x="152400" y="1599892"/>
            <a:ext cx="4876800" cy="4308872"/>
          </a:xfrm>
        </p:spPr>
        <p:txBody>
          <a:bodyPr/>
          <a:lstStyle/>
          <a:p>
            <a:pPr marL="342900" indent="-342900" algn="just">
              <a:buFont typeface="Arial" panose="020B0604020202020204" pitchFamily="34" charset="0"/>
              <a:buChar char="•"/>
            </a:pPr>
            <a:r>
              <a:rPr lang="en-US" sz="2000" dirty="0"/>
              <a:t>The simulation network consists of a central, multi-lane intersection where the reinforcement learning agent will be deployed. </a:t>
            </a:r>
          </a:p>
          <a:p>
            <a:pPr marL="342900" indent="-342900" algn="just">
              <a:buFont typeface="Arial" panose="020B0604020202020204" pitchFamily="34" charset="0"/>
              <a:buChar char="•"/>
            </a:pPr>
            <a:r>
              <a:rPr lang="en-US" sz="2000" dirty="0"/>
              <a:t>The network was constructed in </a:t>
            </a:r>
            <a:r>
              <a:rPr lang="en-US" sz="2000" dirty="0" err="1"/>
              <a:t>Netedit</a:t>
            </a:r>
            <a:r>
              <a:rPr lang="en-US" sz="2000" dirty="0"/>
              <a:t> by creating a series of junctions (nodes) and connecting them with edges (roads). </a:t>
            </a:r>
          </a:p>
          <a:p>
            <a:pPr marL="342900" indent="-342900" algn="just">
              <a:buFont typeface="Arial" panose="020B0604020202020204" pitchFamily="34" charset="0"/>
              <a:buChar char="•"/>
            </a:pPr>
            <a:r>
              <a:rPr lang="en-US" sz="2000" dirty="0"/>
              <a:t>The primary roads were configured with two or three lanes in each direction to simulate a typical urban arterial, and all key roads were set for two-way traffic. </a:t>
            </a:r>
          </a:p>
          <a:p>
            <a:pPr marL="342900" indent="-342900" algn="just">
              <a:buFont typeface="Arial" panose="020B0604020202020204" pitchFamily="34" charset="0"/>
              <a:buChar char="•"/>
            </a:pPr>
            <a:r>
              <a:rPr lang="en-US" sz="2000" dirty="0"/>
              <a:t>A 2 precise naming convention is essential for programmatically accessing these network elements later via the </a:t>
            </a:r>
            <a:r>
              <a:rPr lang="en-US" sz="2000" dirty="0" err="1"/>
              <a:t>TraCI</a:t>
            </a:r>
            <a:r>
              <a:rPr lang="en-US" sz="2000" dirty="0"/>
              <a:t> API.</a:t>
            </a:r>
          </a:p>
        </p:txBody>
      </p:sp>
      <p:pic>
        <p:nvPicPr>
          <p:cNvPr id="5" name="Picture 4">
            <a:extLst>
              <a:ext uri="{FF2B5EF4-FFF2-40B4-BE49-F238E27FC236}">
                <a16:creationId xmlns:a16="http://schemas.microsoft.com/office/drawing/2014/main" id="{DE20C449-3796-FAC5-9B94-88D4251D7A0D}"/>
              </a:ext>
            </a:extLst>
          </p:cNvPr>
          <p:cNvPicPr>
            <a:picLocks noChangeAspect="1"/>
          </p:cNvPicPr>
          <p:nvPr/>
        </p:nvPicPr>
        <p:blipFill>
          <a:blip r:embed="rId2"/>
          <a:srcRect l="1778" r="21756"/>
          <a:stretch>
            <a:fillRect/>
          </a:stretch>
        </p:blipFill>
        <p:spPr>
          <a:xfrm>
            <a:off x="5486400" y="1752446"/>
            <a:ext cx="6553200" cy="4003764"/>
          </a:xfrm>
          <a:prstGeom prst="rect">
            <a:avLst/>
          </a:prstGeom>
        </p:spPr>
      </p:pic>
    </p:spTree>
    <p:extLst>
      <p:ext uri="{BB962C8B-B14F-4D97-AF65-F5344CB8AC3E}">
        <p14:creationId xmlns:p14="http://schemas.microsoft.com/office/powerpoint/2010/main" val="3149371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6B488-288F-FB10-C56F-30D332269AC6}"/>
              </a:ext>
            </a:extLst>
          </p:cNvPr>
          <p:cNvSpPr>
            <a:spLocks noGrp="1"/>
          </p:cNvSpPr>
          <p:nvPr>
            <p:ph type="title"/>
          </p:nvPr>
        </p:nvSpPr>
        <p:spPr>
          <a:xfrm>
            <a:off x="76200" y="457200"/>
            <a:ext cx="8373109" cy="492443"/>
          </a:xfrm>
        </p:spPr>
        <p:txBody>
          <a:bodyPr/>
          <a:lstStyle/>
          <a:p>
            <a:r>
              <a:rPr lang="en-IN" b="1" dirty="0">
                <a:latin typeface="Calibri "/>
              </a:rPr>
              <a:t>Network Construction in </a:t>
            </a:r>
            <a:r>
              <a:rPr lang="en-IN" b="1" dirty="0" err="1">
                <a:latin typeface="Calibri "/>
              </a:rPr>
              <a:t>Netedit</a:t>
            </a:r>
            <a:r>
              <a:rPr lang="en-IN" b="1" dirty="0">
                <a:latin typeface="Calibri "/>
              </a:rPr>
              <a:t> </a:t>
            </a:r>
            <a:endParaRPr lang="en-IN" dirty="0"/>
          </a:p>
        </p:txBody>
      </p:sp>
      <p:sp>
        <p:nvSpPr>
          <p:cNvPr id="3" name="Text Placeholder 2">
            <a:extLst>
              <a:ext uri="{FF2B5EF4-FFF2-40B4-BE49-F238E27FC236}">
                <a16:creationId xmlns:a16="http://schemas.microsoft.com/office/drawing/2014/main" id="{20328EED-23C7-2BA2-0269-13549E771A01}"/>
              </a:ext>
            </a:extLst>
          </p:cNvPr>
          <p:cNvSpPr>
            <a:spLocks noGrp="1"/>
          </p:cNvSpPr>
          <p:nvPr>
            <p:ph type="body" idx="1"/>
          </p:nvPr>
        </p:nvSpPr>
        <p:spPr>
          <a:xfrm>
            <a:off x="533400" y="4800600"/>
            <a:ext cx="10793730" cy="1292662"/>
          </a:xfrm>
        </p:spPr>
        <p:txBody>
          <a:bodyPr/>
          <a:lstStyle/>
          <a:p>
            <a:pPr marL="457200" indent="-457200">
              <a:buFont typeface="Arial" panose="020B0604020202020204" pitchFamily="34" charset="0"/>
              <a:buChar char="•"/>
            </a:pPr>
            <a:r>
              <a:rPr lang="en-US" dirty="0"/>
              <a:t>For the purposes of this tutorial, the simulation utilizes SUMO's default vehicle types and traffic flow parameters. Specific routes were defined to generate traffic demand through the central intersection. </a:t>
            </a:r>
            <a:endParaRPr lang="en-IN" dirty="0"/>
          </a:p>
        </p:txBody>
      </p:sp>
      <p:pic>
        <p:nvPicPr>
          <p:cNvPr id="5" name="Picture 4">
            <a:extLst>
              <a:ext uri="{FF2B5EF4-FFF2-40B4-BE49-F238E27FC236}">
                <a16:creationId xmlns:a16="http://schemas.microsoft.com/office/drawing/2014/main" id="{EFFCEA13-1C68-FB30-BCC0-D458CF1A7FF4}"/>
              </a:ext>
            </a:extLst>
          </p:cNvPr>
          <p:cNvPicPr>
            <a:picLocks noChangeAspect="1"/>
          </p:cNvPicPr>
          <p:nvPr/>
        </p:nvPicPr>
        <p:blipFill>
          <a:blip r:embed="rId2"/>
          <a:stretch>
            <a:fillRect/>
          </a:stretch>
        </p:blipFill>
        <p:spPr>
          <a:xfrm>
            <a:off x="762000" y="1447800"/>
            <a:ext cx="8991600" cy="3083962"/>
          </a:xfrm>
          <a:prstGeom prst="rect">
            <a:avLst/>
          </a:prstGeom>
        </p:spPr>
      </p:pic>
    </p:spTree>
    <p:extLst>
      <p:ext uri="{BB962C8B-B14F-4D97-AF65-F5344CB8AC3E}">
        <p14:creationId xmlns:p14="http://schemas.microsoft.com/office/powerpoint/2010/main" val="39746632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6BA72-B071-A86D-447E-125CA7D87843}"/>
              </a:ext>
            </a:extLst>
          </p:cNvPr>
          <p:cNvSpPr>
            <a:spLocks noGrp="1"/>
          </p:cNvSpPr>
          <p:nvPr>
            <p:ph type="title"/>
          </p:nvPr>
        </p:nvSpPr>
        <p:spPr>
          <a:xfrm>
            <a:off x="152400" y="457200"/>
            <a:ext cx="8373109" cy="492443"/>
          </a:xfrm>
        </p:spPr>
        <p:txBody>
          <a:bodyPr/>
          <a:lstStyle/>
          <a:p>
            <a:r>
              <a:rPr lang="en-IN" b="1" dirty="0">
                <a:latin typeface="Calibri "/>
              </a:rPr>
              <a:t>Network Construction in </a:t>
            </a:r>
            <a:r>
              <a:rPr lang="en-IN" b="1" dirty="0" err="1">
                <a:latin typeface="Calibri "/>
              </a:rPr>
              <a:t>Netedit</a:t>
            </a:r>
            <a:r>
              <a:rPr lang="en-IN" b="1" dirty="0">
                <a:latin typeface="Calibri "/>
              </a:rPr>
              <a:t> </a:t>
            </a:r>
            <a:endParaRPr lang="en-IN" dirty="0"/>
          </a:p>
        </p:txBody>
      </p:sp>
      <p:sp>
        <p:nvSpPr>
          <p:cNvPr id="3" name="Text Placeholder 2">
            <a:extLst>
              <a:ext uri="{FF2B5EF4-FFF2-40B4-BE49-F238E27FC236}">
                <a16:creationId xmlns:a16="http://schemas.microsoft.com/office/drawing/2014/main" id="{8A5DE6CB-8AAA-0F03-D86B-825F9E4BE90B}"/>
              </a:ext>
            </a:extLst>
          </p:cNvPr>
          <p:cNvSpPr>
            <a:spLocks noGrp="1"/>
          </p:cNvSpPr>
          <p:nvPr>
            <p:ph type="body" idx="1"/>
          </p:nvPr>
        </p:nvSpPr>
        <p:spPr>
          <a:xfrm>
            <a:off x="342900" y="1447800"/>
            <a:ext cx="11506200" cy="2462213"/>
          </a:xfrm>
        </p:spPr>
        <p:txBody>
          <a:bodyPr/>
          <a:lstStyle/>
          <a:p>
            <a:r>
              <a:rPr lang="en-US" sz="2000" b="1" dirty="0"/>
              <a:t>Traffic Light Signal Configuration:</a:t>
            </a:r>
          </a:p>
          <a:p>
            <a:r>
              <a:rPr lang="en-US" sz="2000" dirty="0"/>
              <a:t>A traffic light signal was added to the central intersection (node2) to be controlled by the RL agent. The agent interacts with this traffic light using two primary </a:t>
            </a:r>
            <a:r>
              <a:rPr lang="en-US" sz="2000" dirty="0" err="1"/>
              <a:t>TraCI</a:t>
            </a:r>
            <a:r>
              <a:rPr lang="en-US" sz="2000" dirty="0"/>
              <a:t> functions: </a:t>
            </a:r>
          </a:p>
          <a:p>
            <a:r>
              <a:rPr lang="en-US" sz="2000" dirty="0"/>
              <a:t>• Value Retrieval: </a:t>
            </a:r>
            <a:r>
              <a:rPr lang="en-US" sz="2000" dirty="0" err="1"/>
              <a:t>trafficlight.getPhase</a:t>
            </a:r>
            <a:r>
              <a:rPr lang="en-US" sz="2000" dirty="0"/>
              <a:t> is used to query the current phase of the traffic light. This information is a critical component of the agent's state. </a:t>
            </a:r>
          </a:p>
          <a:p>
            <a:r>
              <a:rPr lang="en-US" sz="2000" dirty="0"/>
              <a:t>• State Changing: </a:t>
            </a:r>
            <a:r>
              <a:rPr lang="en-US" sz="2000" dirty="0" err="1"/>
              <a:t>trafficlight.setPhase</a:t>
            </a:r>
            <a:r>
              <a:rPr lang="en-US" sz="2000" dirty="0"/>
              <a:t> is used to command the traffic light to transition to a new phase. This is how the agent executes its chosen action.</a:t>
            </a:r>
          </a:p>
          <a:p>
            <a:endParaRPr lang="en-US" sz="2000" dirty="0"/>
          </a:p>
        </p:txBody>
      </p:sp>
      <p:pic>
        <p:nvPicPr>
          <p:cNvPr id="7" name="Picture 6">
            <a:extLst>
              <a:ext uri="{FF2B5EF4-FFF2-40B4-BE49-F238E27FC236}">
                <a16:creationId xmlns:a16="http://schemas.microsoft.com/office/drawing/2014/main" id="{B211FB49-5596-6346-9C4E-1826F04254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33" y="76200"/>
            <a:ext cx="12192000" cy="6838940"/>
          </a:xfrm>
          <a:prstGeom prst="rect">
            <a:avLst/>
          </a:prstGeom>
        </p:spPr>
      </p:pic>
    </p:spTree>
    <p:extLst>
      <p:ext uri="{BB962C8B-B14F-4D97-AF65-F5344CB8AC3E}">
        <p14:creationId xmlns:p14="http://schemas.microsoft.com/office/powerpoint/2010/main" val="16780647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A0388-27EC-BDF9-7FBD-CEF055DF53F0}"/>
              </a:ext>
            </a:extLst>
          </p:cNvPr>
          <p:cNvSpPr>
            <a:spLocks noGrp="1"/>
          </p:cNvSpPr>
          <p:nvPr>
            <p:ph type="title"/>
          </p:nvPr>
        </p:nvSpPr>
        <p:spPr>
          <a:xfrm>
            <a:off x="152400" y="533400"/>
            <a:ext cx="8373109" cy="492443"/>
          </a:xfrm>
        </p:spPr>
        <p:txBody>
          <a:bodyPr/>
          <a:lstStyle/>
          <a:p>
            <a:r>
              <a:rPr lang="en-IN" b="1" dirty="0">
                <a:latin typeface="Calibri "/>
              </a:rPr>
              <a:t>Network Construction in </a:t>
            </a:r>
            <a:r>
              <a:rPr lang="en-IN" b="1" dirty="0" err="1">
                <a:latin typeface="Calibri "/>
              </a:rPr>
              <a:t>Netedit</a:t>
            </a:r>
            <a:r>
              <a:rPr lang="en-IN" b="1" dirty="0">
                <a:latin typeface="Calibri "/>
              </a:rPr>
              <a:t> </a:t>
            </a:r>
            <a:endParaRPr lang="en-IN" dirty="0"/>
          </a:p>
        </p:txBody>
      </p:sp>
      <p:sp>
        <p:nvSpPr>
          <p:cNvPr id="3" name="Text Placeholder 2">
            <a:extLst>
              <a:ext uri="{FF2B5EF4-FFF2-40B4-BE49-F238E27FC236}">
                <a16:creationId xmlns:a16="http://schemas.microsoft.com/office/drawing/2014/main" id="{9F5798FA-C8B9-ABF6-197A-2D45F3732EA8}"/>
              </a:ext>
            </a:extLst>
          </p:cNvPr>
          <p:cNvSpPr>
            <a:spLocks noGrp="1"/>
          </p:cNvSpPr>
          <p:nvPr>
            <p:ph type="body" idx="1"/>
          </p:nvPr>
        </p:nvSpPr>
        <p:spPr>
          <a:xfrm>
            <a:off x="381000" y="1295401"/>
            <a:ext cx="11811000" cy="1661993"/>
          </a:xfrm>
        </p:spPr>
        <p:txBody>
          <a:bodyPr/>
          <a:lstStyle/>
          <a:p>
            <a:r>
              <a:rPr lang="en-IN" sz="1800" b="1" dirty="0"/>
              <a:t>Detector Placement and Configuration:</a:t>
            </a:r>
          </a:p>
          <a:p>
            <a:pPr marL="342900" indent="-342900">
              <a:buFont typeface="Arial" panose="020B0604020202020204" pitchFamily="34" charset="0"/>
              <a:buChar char="•"/>
            </a:pPr>
            <a:r>
              <a:rPr lang="en-US" sz="1800" dirty="0"/>
              <a:t>In this project, Lane Area Detectors (E2) are placed on the inbound lanes approaching the central intersection. These detectors measure key metrics like vehicle count and queue length within a defined area of the lane. </a:t>
            </a:r>
          </a:p>
          <a:p>
            <a:pPr marL="342900" indent="-342900">
              <a:buFont typeface="Arial" panose="020B0604020202020204" pitchFamily="34" charset="0"/>
              <a:buChar char="•"/>
            </a:pPr>
            <a:r>
              <a:rPr lang="en-US" sz="1800" dirty="0"/>
              <a:t>The agent retrieves data from these detectors using a specific </a:t>
            </a:r>
            <a:r>
              <a:rPr lang="en-US" sz="1800" dirty="0" err="1"/>
              <a:t>TraCI</a:t>
            </a:r>
            <a:r>
              <a:rPr lang="en-US" sz="1800" dirty="0"/>
              <a:t> function: </a:t>
            </a:r>
            <a:r>
              <a:rPr lang="en-US" sz="1800" dirty="0" err="1"/>
              <a:t>lanearea.getLastStepVehicleNumber</a:t>
            </a:r>
            <a:r>
              <a:rPr lang="en-US" sz="1800" dirty="0"/>
              <a:t> </a:t>
            </a:r>
          </a:p>
          <a:p>
            <a:pPr marL="342900" indent="-342900">
              <a:buFont typeface="Arial" panose="020B0604020202020204" pitchFamily="34" charset="0"/>
              <a:buChar char="•"/>
            </a:pPr>
            <a:r>
              <a:rPr lang="en-US" sz="1800" dirty="0"/>
              <a:t>This function returns the total number of vehicles that were within the detector's defined area during the last simulation step, providing a real-time measure of traffic density. </a:t>
            </a:r>
            <a:endParaRPr lang="en-IN" sz="2400" b="1" dirty="0"/>
          </a:p>
        </p:txBody>
      </p:sp>
      <p:pic>
        <p:nvPicPr>
          <p:cNvPr id="5" name="Picture 4">
            <a:extLst>
              <a:ext uri="{FF2B5EF4-FFF2-40B4-BE49-F238E27FC236}">
                <a16:creationId xmlns:a16="http://schemas.microsoft.com/office/drawing/2014/main" id="{E55AB65D-F593-B6D9-437F-A87BD81532D8}"/>
              </a:ext>
            </a:extLst>
          </p:cNvPr>
          <p:cNvPicPr>
            <a:picLocks noChangeAspect="1"/>
          </p:cNvPicPr>
          <p:nvPr/>
        </p:nvPicPr>
        <p:blipFill>
          <a:blip r:embed="rId2"/>
          <a:stretch>
            <a:fillRect/>
          </a:stretch>
        </p:blipFill>
        <p:spPr>
          <a:xfrm>
            <a:off x="406400" y="2974327"/>
            <a:ext cx="6398846" cy="3048000"/>
          </a:xfrm>
          <a:prstGeom prst="rect">
            <a:avLst/>
          </a:prstGeom>
        </p:spPr>
      </p:pic>
      <p:sp>
        <p:nvSpPr>
          <p:cNvPr id="7" name="TextBox 6">
            <a:extLst>
              <a:ext uri="{FF2B5EF4-FFF2-40B4-BE49-F238E27FC236}">
                <a16:creationId xmlns:a16="http://schemas.microsoft.com/office/drawing/2014/main" id="{F6639CA0-530E-5139-5640-E2B77A740386}"/>
              </a:ext>
            </a:extLst>
          </p:cNvPr>
          <p:cNvSpPr txBox="1"/>
          <p:nvPr/>
        </p:nvSpPr>
        <p:spPr>
          <a:xfrm>
            <a:off x="7391400" y="3204493"/>
            <a:ext cx="4800600" cy="2862322"/>
          </a:xfrm>
          <a:prstGeom prst="rect">
            <a:avLst/>
          </a:prstGeom>
          <a:noFill/>
        </p:spPr>
        <p:txBody>
          <a:bodyPr wrap="square">
            <a:spAutoFit/>
          </a:bodyPr>
          <a:lstStyle/>
          <a:p>
            <a:r>
              <a:rPr lang="en-IN" b="1" dirty="0">
                <a:latin typeface="+mj-lt"/>
              </a:rPr>
              <a:t>CODE:</a:t>
            </a:r>
          </a:p>
          <a:p>
            <a:r>
              <a:rPr lang="en-IN" dirty="0">
                <a:latin typeface="+mj-lt"/>
              </a:rPr>
              <a:t># Detector IDs for Node1-2-EB</a:t>
            </a:r>
          </a:p>
          <a:p>
            <a:r>
              <a:rPr lang="en-IN" dirty="0">
                <a:latin typeface="+mj-lt"/>
              </a:rPr>
              <a:t>detector_Node1_2_EB_0 = "Node1_2_EB_0"</a:t>
            </a:r>
          </a:p>
          <a:p>
            <a:r>
              <a:rPr lang="en-IN" dirty="0">
                <a:latin typeface="+mj-lt"/>
              </a:rPr>
              <a:t>detector_Node1_2_EB_1 = "Node1_2_EB_1"</a:t>
            </a:r>
          </a:p>
          <a:p>
            <a:r>
              <a:rPr lang="en-IN" dirty="0">
                <a:latin typeface="+mj-lt"/>
              </a:rPr>
              <a:t>detector_Node1_2_EB_2 = "Node1_2_EB_2"</a:t>
            </a:r>
          </a:p>
          <a:p>
            <a:endParaRPr lang="en-IN" dirty="0">
              <a:latin typeface="+mj-lt"/>
            </a:endParaRPr>
          </a:p>
          <a:p>
            <a:r>
              <a:rPr lang="en-IN" dirty="0">
                <a:latin typeface="+mj-lt"/>
              </a:rPr>
              <a:t># Detector IDs for Node2-7-SB</a:t>
            </a:r>
          </a:p>
          <a:p>
            <a:r>
              <a:rPr lang="en-IN" dirty="0">
                <a:latin typeface="+mj-lt"/>
              </a:rPr>
              <a:t>detector_Node2_7_SB_0 = "Node2_7_SB_0"</a:t>
            </a:r>
          </a:p>
          <a:p>
            <a:r>
              <a:rPr lang="en-IN" dirty="0">
                <a:latin typeface="+mj-lt"/>
              </a:rPr>
              <a:t>detector_Node2_7_SB_1 = "Node2_7_SB_1"</a:t>
            </a:r>
          </a:p>
          <a:p>
            <a:r>
              <a:rPr lang="en-IN" dirty="0">
                <a:latin typeface="+mj-lt"/>
              </a:rPr>
              <a:t>detector_Node2_7_SB_2 = "Node2_7_SB_2"</a:t>
            </a:r>
          </a:p>
        </p:txBody>
      </p:sp>
    </p:spTree>
    <p:extLst>
      <p:ext uri="{BB962C8B-B14F-4D97-AF65-F5344CB8AC3E}">
        <p14:creationId xmlns:p14="http://schemas.microsoft.com/office/powerpoint/2010/main" val="11788614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A803A-8289-76AE-88F2-F0BEFF229167}"/>
              </a:ext>
            </a:extLst>
          </p:cNvPr>
          <p:cNvSpPr>
            <a:spLocks noGrp="1"/>
          </p:cNvSpPr>
          <p:nvPr>
            <p:ph type="title"/>
          </p:nvPr>
        </p:nvSpPr>
        <p:spPr>
          <a:xfrm>
            <a:off x="152400" y="533400"/>
            <a:ext cx="8373109" cy="492443"/>
          </a:xfrm>
        </p:spPr>
        <p:txBody>
          <a:bodyPr/>
          <a:lstStyle/>
          <a:p>
            <a:r>
              <a:rPr lang="en-IN" b="1" dirty="0">
                <a:latin typeface="Calibri "/>
              </a:rPr>
              <a:t>Reinforcement Learning Framework Formulation</a:t>
            </a:r>
          </a:p>
        </p:txBody>
      </p:sp>
      <p:sp>
        <p:nvSpPr>
          <p:cNvPr id="3" name="Text Placeholder 2">
            <a:extLst>
              <a:ext uri="{FF2B5EF4-FFF2-40B4-BE49-F238E27FC236}">
                <a16:creationId xmlns:a16="http://schemas.microsoft.com/office/drawing/2014/main" id="{89D7CC88-FEC8-277A-8B27-7723B896DF42}"/>
              </a:ext>
            </a:extLst>
          </p:cNvPr>
          <p:cNvSpPr>
            <a:spLocks noGrp="1"/>
          </p:cNvSpPr>
          <p:nvPr>
            <p:ph type="body" idx="1"/>
          </p:nvPr>
        </p:nvSpPr>
        <p:spPr>
          <a:xfrm>
            <a:off x="304800" y="1295400"/>
            <a:ext cx="11582400" cy="4616648"/>
          </a:xfrm>
        </p:spPr>
        <p:txBody>
          <a:bodyPr/>
          <a:lstStyle/>
          <a:p>
            <a:r>
              <a:rPr lang="en-IN" sz="2000" b="1" dirty="0"/>
              <a:t>State Definition:</a:t>
            </a:r>
          </a:p>
          <a:p>
            <a:r>
              <a:rPr lang="en-US" sz="2000" dirty="0"/>
              <a:t>The state is a representation of the environment that the agent uses to make decisions. There are six lane area detectors placed on the approaches to the intersection. Therefore, the state vector contains six values representing the number of vehicles on each detector, plus a final value representing the current traffic signal phase.</a:t>
            </a:r>
          </a:p>
          <a:p>
            <a:r>
              <a:rPr lang="en-US" sz="2000" b="1" dirty="0"/>
              <a:t>Action Definition:</a:t>
            </a:r>
          </a:p>
          <a:p>
            <a:r>
              <a:rPr lang="en-US" sz="2000" dirty="0"/>
              <a:t>The action space defines the set of all possible moves the agent can make. To maintain simplicity and ensure stable learning, a discrete action space with two options is used: </a:t>
            </a:r>
          </a:p>
          <a:p>
            <a:pPr marL="457200" indent="-457200">
              <a:buAutoNum type="arabicPeriod"/>
            </a:pPr>
            <a:r>
              <a:rPr lang="en-US" sz="2000" dirty="0"/>
              <a:t>Keep Phase (Action 0): The traffic light remains in its current phase for the next time step. </a:t>
            </a:r>
          </a:p>
          <a:p>
            <a:pPr marL="457200" indent="-457200">
              <a:buAutoNum type="arabicPeriod"/>
            </a:pPr>
            <a:r>
              <a:rPr lang="en-US" sz="2000" dirty="0"/>
              <a:t>Switch Phase (Action 1): The traffic light transitions to the next phase in its predefined sequence (e.g., from Phase 0 to Phase 1). </a:t>
            </a:r>
          </a:p>
          <a:p>
            <a:r>
              <a:rPr lang="en-US" sz="2000" b="1" dirty="0"/>
              <a:t>Reward Function:</a:t>
            </a:r>
          </a:p>
          <a:p>
            <a:r>
              <a:rPr lang="en-US" sz="2000" dirty="0"/>
              <a:t>The reward function provides the feedback signal that guides the agent's learning process. The primary objective is to minimize the queue length at the intersection. To achieve this, the reward is formulated as the negative sum of all vehicles detected across all six lane area detectors at any given time step. </a:t>
            </a:r>
            <a:endParaRPr lang="en-IN" sz="2000" b="1" dirty="0"/>
          </a:p>
        </p:txBody>
      </p:sp>
    </p:spTree>
    <p:extLst>
      <p:ext uri="{BB962C8B-B14F-4D97-AF65-F5344CB8AC3E}">
        <p14:creationId xmlns:p14="http://schemas.microsoft.com/office/powerpoint/2010/main" val="2312736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7AFC3-10E4-CC8B-40B7-C576E5D3BF12}"/>
              </a:ext>
            </a:extLst>
          </p:cNvPr>
          <p:cNvSpPr>
            <a:spLocks noGrp="1"/>
          </p:cNvSpPr>
          <p:nvPr>
            <p:ph type="title"/>
          </p:nvPr>
        </p:nvSpPr>
        <p:spPr>
          <a:xfrm>
            <a:off x="78739" y="332943"/>
            <a:ext cx="8373109" cy="492443"/>
          </a:xfrm>
        </p:spPr>
        <p:txBody>
          <a:bodyPr/>
          <a:lstStyle/>
          <a:p>
            <a:r>
              <a:rPr lang="en-US" dirty="0"/>
              <a:t>Reinforcement Learning</a:t>
            </a:r>
          </a:p>
        </p:txBody>
      </p:sp>
      <p:pic>
        <p:nvPicPr>
          <p:cNvPr id="5" name="Picture 4">
            <a:extLst>
              <a:ext uri="{FF2B5EF4-FFF2-40B4-BE49-F238E27FC236}">
                <a16:creationId xmlns:a16="http://schemas.microsoft.com/office/drawing/2014/main" id="{99B6E407-C6B1-7559-4CEF-3D1219AEB973}"/>
              </a:ext>
            </a:extLst>
          </p:cNvPr>
          <p:cNvPicPr>
            <a:picLocks noChangeAspect="1"/>
          </p:cNvPicPr>
          <p:nvPr/>
        </p:nvPicPr>
        <p:blipFill>
          <a:blip r:embed="rId2"/>
          <a:stretch>
            <a:fillRect/>
          </a:stretch>
        </p:blipFill>
        <p:spPr>
          <a:xfrm>
            <a:off x="990600" y="1282365"/>
            <a:ext cx="10210800" cy="5118435"/>
          </a:xfrm>
          <a:prstGeom prst="rect">
            <a:avLst/>
          </a:prstGeom>
        </p:spPr>
      </p:pic>
    </p:spTree>
    <p:extLst>
      <p:ext uri="{BB962C8B-B14F-4D97-AF65-F5344CB8AC3E}">
        <p14:creationId xmlns:p14="http://schemas.microsoft.com/office/powerpoint/2010/main" val="2549141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4B3F9-11E7-3789-7940-E8395A4587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79048D-361B-A3FC-420B-91C2E5434504}"/>
              </a:ext>
            </a:extLst>
          </p:cNvPr>
          <p:cNvSpPr>
            <a:spLocks noGrp="1"/>
          </p:cNvSpPr>
          <p:nvPr>
            <p:ph type="title"/>
          </p:nvPr>
        </p:nvSpPr>
        <p:spPr>
          <a:xfrm>
            <a:off x="78739" y="332943"/>
            <a:ext cx="8373109" cy="492443"/>
          </a:xfrm>
        </p:spPr>
        <p:txBody>
          <a:bodyPr/>
          <a:lstStyle/>
          <a:p>
            <a:r>
              <a:rPr lang="en-US" dirty="0"/>
              <a:t>Reinforcement Learning</a:t>
            </a:r>
          </a:p>
        </p:txBody>
      </p:sp>
      <p:pic>
        <p:nvPicPr>
          <p:cNvPr id="4" name="Picture 3">
            <a:extLst>
              <a:ext uri="{FF2B5EF4-FFF2-40B4-BE49-F238E27FC236}">
                <a16:creationId xmlns:a16="http://schemas.microsoft.com/office/drawing/2014/main" id="{C2F5B7BC-B96C-3039-2E72-DDF215205DB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33600" y="1371600"/>
            <a:ext cx="6642365" cy="4795317"/>
          </a:xfrm>
          <a:prstGeom prst="rect">
            <a:avLst/>
          </a:prstGeom>
        </p:spPr>
      </p:pic>
    </p:spTree>
    <p:extLst>
      <p:ext uri="{BB962C8B-B14F-4D97-AF65-F5344CB8AC3E}">
        <p14:creationId xmlns:p14="http://schemas.microsoft.com/office/powerpoint/2010/main" val="267430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FF668-D744-2889-5619-F7F21E583F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498EBC-44F6-327A-70D4-DCF304348623}"/>
              </a:ext>
            </a:extLst>
          </p:cNvPr>
          <p:cNvSpPr>
            <a:spLocks noGrp="1"/>
          </p:cNvSpPr>
          <p:nvPr>
            <p:ph type="title"/>
          </p:nvPr>
        </p:nvSpPr>
        <p:spPr>
          <a:xfrm>
            <a:off x="78739" y="332943"/>
            <a:ext cx="8373109" cy="492443"/>
          </a:xfrm>
        </p:spPr>
        <p:txBody>
          <a:bodyPr/>
          <a:lstStyle/>
          <a:p>
            <a:r>
              <a:rPr lang="en-US" dirty="0"/>
              <a:t>Reinforcement Learning</a:t>
            </a:r>
          </a:p>
        </p:txBody>
      </p:sp>
      <p:pic>
        <p:nvPicPr>
          <p:cNvPr id="4" name="Picture 3">
            <a:extLst>
              <a:ext uri="{FF2B5EF4-FFF2-40B4-BE49-F238E27FC236}">
                <a16:creationId xmlns:a16="http://schemas.microsoft.com/office/drawing/2014/main" id="{20D60B14-6631-6643-7CB5-ECF24F7E9365}"/>
              </a:ext>
            </a:extLst>
          </p:cNvPr>
          <p:cNvPicPr>
            <a:picLocks noChangeAspect="1"/>
          </p:cNvPicPr>
          <p:nvPr/>
        </p:nvPicPr>
        <p:blipFill>
          <a:blip r:embed="rId2"/>
          <a:stretch>
            <a:fillRect/>
          </a:stretch>
        </p:blipFill>
        <p:spPr>
          <a:xfrm>
            <a:off x="23989" y="1315584"/>
            <a:ext cx="5625059" cy="4343400"/>
          </a:xfrm>
          <a:prstGeom prst="rect">
            <a:avLst/>
          </a:prstGeom>
        </p:spPr>
      </p:pic>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8D931719-4EE1-0727-E63E-EF2179F0F762}"/>
                  </a:ext>
                </a:extLst>
              </p14:cNvPr>
              <p14:cNvContentPartPr/>
              <p14:nvPr/>
            </p14:nvContentPartPr>
            <p14:xfrm>
              <a:off x="5468429" y="4979124"/>
              <a:ext cx="204840" cy="761400"/>
            </p14:xfrm>
          </p:contentPart>
        </mc:Choice>
        <mc:Fallback xmlns="">
          <p:pic>
            <p:nvPicPr>
              <p:cNvPr id="8" name="Ink 7">
                <a:extLst>
                  <a:ext uri="{FF2B5EF4-FFF2-40B4-BE49-F238E27FC236}">
                    <a16:creationId xmlns:a16="http://schemas.microsoft.com/office/drawing/2014/main" id="{8D931719-4EE1-0727-E63E-EF2179F0F762}"/>
                  </a:ext>
                </a:extLst>
              </p:cNvPr>
              <p:cNvPicPr/>
              <p:nvPr/>
            </p:nvPicPr>
            <p:blipFill>
              <a:blip r:embed="rId4"/>
              <a:stretch>
                <a:fillRect/>
              </a:stretch>
            </p:blipFill>
            <p:spPr>
              <a:xfrm>
                <a:off x="5405789" y="4916484"/>
                <a:ext cx="330480" cy="887040"/>
              </a:xfrm>
              <a:prstGeom prst="rect">
                <a:avLst/>
              </a:prstGeom>
            </p:spPr>
          </p:pic>
        </mc:Fallback>
      </mc:AlternateContent>
      <p:sp>
        <p:nvSpPr>
          <p:cNvPr id="15" name="TextBox 14">
            <a:extLst>
              <a:ext uri="{FF2B5EF4-FFF2-40B4-BE49-F238E27FC236}">
                <a16:creationId xmlns:a16="http://schemas.microsoft.com/office/drawing/2014/main" id="{AABD5ED3-E950-13D6-1860-02886BA4B4AF}"/>
              </a:ext>
            </a:extLst>
          </p:cNvPr>
          <p:cNvSpPr txBox="1"/>
          <p:nvPr/>
        </p:nvSpPr>
        <p:spPr>
          <a:xfrm>
            <a:off x="2362200" y="5822064"/>
            <a:ext cx="9144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State</a:t>
            </a:r>
          </a:p>
        </p:txBody>
      </p:sp>
      <p:pic>
        <p:nvPicPr>
          <p:cNvPr id="17" name="Picture 16">
            <a:extLst>
              <a:ext uri="{FF2B5EF4-FFF2-40B4-BE49-F238E27FC236}">
                <a16:creationId xmlns:a16="http://schemas.microsoft.com/office/drawing/2014/main" id="{8BD72FDC-258A-5A62-18A1-33BE0CF4F2E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623648" y="1524000"/>
            <a:ext cx="6437040" cy="2616200"/>
          </a:xfrm>
          <a:prstGeom prst="rect">
            <a:avLst/>
          </a:prstGeom>
        </p:spPr>
      </p:pic>
    </p:spTree>
    <p:extLst>
      <p:ext uri="{BB962C8B-B14F-4D97-AF65-F5344CB8AC3E}">
        <p14:creationId xmlns:p14="http://schemas.microsoft.com/office/powerpoint/2010/main" val="1106056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D7274-C2B9-8363-F368-77D0CB2ECF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A0AE03-AAF7-749E-534C-DFE5DE78E406}"/>
              </a:ext>
            </a:extLst>
          </p:cNvPr>
          <p:cNvSpPr>
            <a:spLocks noGrp="1"/>
          </p:cNvSpPr>
          <p:nvPr>
            <p:ph type="title"/>
          </p:nvPr>
        </p:nvSpPr>
        <p:spPr>
          <a:xfrm>
            <a:off x="78739" y="332943"/>
            <a:ext cx="8373109" cy="492443"/>
          </a:xfrm>
        </p:spPr>
        <p:txBody>
          <a:bodyPr/>
          <a:lstStyle/>
          <a:p>
            <a:r>
              <a:rPr lang="en-US" dirty="0"/>
              <a:t>Reinforcement Learning</a:t>
            </a:r>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11625B02-0423-B572-B38E-A3544DE13820}"/>
                  </a:ext>
                </a:extLst>
              </p14:cNvPr>
              <p14:cNvContentPartPr/>
              <p14:nvPr/>
            </p14:nvContentPartPr>
            <p14:xfrm>
              <a:off x="5650848" y="5168664"/>
              <a:ext cx="193680" cy="490320"/>
            </p14:xfrm>
          </p:contentPart>
        </mc:Choice>
        <mc:Fallback xmlns="">
          <p:pic>
            <p:nvPicPr>
              <p:cNvPr id="6" name="Ink 5">
                <a:extLst>
                  <a:ext uri="{FF2B5EF4-FFF2-40B4-BE49-F238E27FC236}">
                    <a16:creationId xmlns:a16="http://schemas.microsoft.com/office/drawing/2014/main" id="{11625B02-0423-B572-B38E-A3544DE13820}"/>
                  </a:ext>
                </a:extLst>
              </p:cNvPr>
              <p:cNvPicPr/>
              <p:nvPr/>
            </p:nvPicPr>
            <p:blipFill>
              <a:blip r:embed="rId3"/>
              <a:stretch>
                <a:fillRect/>
              </a:stretch>
            </p:blipFill>
            <p:spPr>
              <a:xfrm>
                <a:off x="5596848" y="5060664"/>
                <a:ext cx="301320" cy="7059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F94DB970-FC35-FCBC-5131-A61169698BB6}"/>
                  </a:ext>
                </a:extLst>
              </p14:cNvPr>
              <p14:cNvContentPartPr/>
              <p14:nvPr/>
            </p14:nvContentPartPr>
            <p14:xfrm>
              <a:off x="5649048" y="5060664"/>
              <a:ext cx="204840" cy="761400"/>
            </p14:xfrm>
          </p:contentPart>
        </mc:Choice>
        <mc:Fallback xmlns="">
          <p:pic>
            <p:nvPicPr>
              <p:cNvPr id="8" name="Ink 7">
                <a:extLst>
                  <a:ext uri="{FF2B5EF4-FFF2-40B4-BE49-F238E27FC236}">
                    <a16:creationId xmlns:a16="http://schemas.microsoft.com/office/drawing/2014/main" id="{F94DB970-FC35-FCBC-5131-A61169698BB6}"/>
                  </a:ext>
                </a:extLst>
              </p:cNvPr>
              <p:cNvPicPr/>
              <p:nvPr/>
            </p:nvPicPr>
            <p:blipFill>
              <a:blip r:embed="rId5"/>
              <a:stretch>
                <a:fillRect/>
              </a:stretch>
            </p:blipFill>
            <p:spPr>
              <a:xfrm>
                <a:off x="5586048" y="4997664"/>
                <a:ext cx="330480" cy="8870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38FD0401-5974-B2DA-6F82-7962268D81E2}"/>
                  </a:ext>
                </a:extLst>
              </p14:cNvPr>
              <p14:cNvContentPartPr/>
              <p14:nvPr/>
            </p14:nvContentPartPr>
            <p14:xfrm>
              <a:off x="-430272" y="2184984"/>
              <a:ext cx="360" cy="360"/>
            </p14:xfrm>
          </p:contentPart>
        </mc:Choice>
        <mc:Fallback xmlns="">
          <p:pic>
            <p:nvPicPr>
              <p:cNvPr id="9" name="Ink 8">
                <a:extLst>
                  <a:ext uri="{FF2B5EF4-FFF2-40B4-BE49-F238E27FC236}">
                    <a16:creationId xmlns:a16="http://schemas.microsoft.com/office/drawing/2014/main" id="{38FD0401-5974-B2DA-6F82-7962268D81E2}"/>
                  </a:ext>
                </a:extLst>
              </p:cNvPr>
              <p:cNvPicPr/>
              <p:nvPr/>
            </p:nvPicPr>
            <p:blipFill>
              <a:blip r:embed="rId7"/>
              <a:stretch>
                <a:fillRect/>
              </a:stretch>
            </p:blipFill>
            <p:spPr>
              <a:xfrm>
                <a:off x="-493272" y="2121984"/>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0B092D9F-791E-2619-8CA6-47B6BD880B4A}"/>
                  </a:ext>
                </a:extLst>
              </p14:cNvPr>
              <p14:cNvContentPartPr/>
              <p14:nvPr/>
            </p14:nvContentPartPr>
            <p14:xfrm>
              <a:off x="1645488" y="2688048"/>
              <a:ext cx="360" cy="360"/>
            </p14:xfrm>
          </p:contentPart>
        </mc:Choice>
        <mc:Fallback xmlns="">
          <p:pic>
            <p:nvPicPr>
              <p:cNvPr id="10" name="Ink 9">
                <a:extLst>
                  <a:ext uri="{FF2B5EF4-FFF2-40B4-BE49-F238E27FC236}">
                    <a16:creationId xmlns:a16="http://schemas.microsoft.com/office/drawing/2014/main" id="{0B092D9F-791E-2619-8CA6-47B6BD880B4A}"/>
                  </a:ext>
                </a:extLst>
              </p:cNvPr>
              <p:cNvPicPr/>
              <p:nvPr/>
            </p:nvPicPr>
            <p:blipFill>
              <a:blip r:embed="rId7"/>
              <a:stretch>
                <a:fillRect/>
              </a:stretch>
            </p:blipFill>
            <p:spPr>
              <a:xfrm>
                <a:off x="1582488" y="2625048"/>
                <a:ext cx="126000" cy="126000"/>
              </a:xfrm>
              <a:prstGeom prst="rect">
                <a:avLst/>
              </a:prstGeom>
            </p:spPr>
          </p:pic>
        </mc:Fallback>
      </mc:AlternateContent>
      <p:sp>
        <p:nvSpPr>
          <p:cNvPr id="15" name="TextBox 14">
            <a:extLst>
              <a:ext uri="{FF2B5EF4-FFF2-40B4-BE49-F238E27FC236}">
                <a16:creationId xmlns:a16="http://schemas.microsoft.com/office/drawing/2014/main" id="{859F80AB-0351-FCD7-0093-87FB18E17B45}"/>
              </a:ext>
            </a:extLst>
          </p:cNvPr>
          <p:cNvSpPr txBox="1"/>
          <p:nvPr/>
        </p:nvSpPr>
        <p:spPr>
          <a:xfrm>
            <a:off x="2362200" y="5822064"/>
            <a:ext cx="9144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State</a:t>
            </a:r>
          </a:p>
        </p:txBody>
      </p:sp>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4FD543C3-2A0A-29FA-1952-E9263C904544}"/>
                  </a:ext>
                </a:extLst>
              </p14:cNvPr>
              <p14:cNvContentPartPr/>
              <p14:nvPr/>
            </p14:nvContentPartPr>
            <p14:xfrm>
              <a:off x="13459608" y="4946544"/>
              <a:ext cx="360" cy="360"/>
            </p14:xfrm>
          </p:contentPart>
        </mc:Choice>
        <mc:Fallback xmlns="">
          <p:pic>
            <p:nvPicPr>
              <p:cNvPr id="11" name="Ink 10">
                <a:extLst>
                  <a:ext uri="{FF2B5EF4-FFF2-40B4-BE49-F238E27FC236}">
                    <a16:creationId xmlns:a16="http://schemas.microsoft.com/office/drawing/2014/main" id="{4FD543C3-2A0A-29FA-1952-E9263C904544}"/>
                  </a:ext>
                </a:extLst>
              </p:cNvPr>
              <p:cNvPicPr/>
              <p:nvPr/>
            </p:nvPicPr>
            <p:blipFill>
              <a:blip r:embed="rId7"/>
              <a:stretch>
                <a:fillRect/>
              </a:stretch>
            </p:blipFill>
            <p:spPr>
              <a:xfrm>
                <a:off x="13396608" y="4883544"/>
                <a:ext cx="126000" cy="126000"/>
              </a:xfrm>
              <a:prstGeom prst="rect">
                <a:avLst/>
              </a:prstGeom>
            </p:spPr>
          </p:pic>
        </mc:Fallback>
      </mc:AlternateContent>
      <p:pic>
        <p:nvPicPr>
          <p:cNvPr id="4" name="Picture 3">
            <a:extLst>
              <a:ext uri="{FF2B5EF4-FFF2-40B4-BE49-F238E27FC236}">
                <a16:creationId xmlns:a16="http://schemas.microsoft.com/office/drawing/2014/main" id="{14C8BFFE-0A64-F000-81FD-F8E8DB6F100F}"/>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33400" y="1035936"/>
            <a:ext cx="9850316" cy="4888318"/>
          </a:xfrm>
          <a:prstGeom prst="rect">
            <a:avLst/>
          </a:prstGeom>
        </p:spPr>
      </p:pic>
    </p:spTree>
    <p:extLst>
      <p:ext uri="{BB962C8B-B14F-4D97-AF65-F5344CB8AC3E}">
        <p14:creationId xmlns:p14="http://schemas.microsoft.com/office/powerpoint/2010/main" val="7548525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8E8CC-D487-0CAA-506D-A2C84D0EDD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5FC90D-3BDE-4D0A-923B-F3E3B389DE6D}"/>
              </a:ext>
            </a:extLst>
          </p:cNvPr>
          <p:cNvSpPr>
            <a:spLocks noGrp="1"/>
          </p:cNvSpPr>
          <p:nvPr>
            <p:ph type="title"/>
          </p:nvPr>
        </p:nvSpPr>
        <p:spPr>
          <a:xfrm>
            <a:off x="62966" y="533400"/>
            <a:ext cx="8373109" cy="492443"/>
          </a:xfrm>
        </p:spPr>
        <p:txBody>
          <a:bodyPr/>
          <a:lstStyle/>
          <a:p>
            <a:r>
              <a:rPr lang="en-US" b="1" dirty="0">
                <a:latin typeface="+mj-lt"/>
              </a:rPr>
              <a:t>Algorithm 1: Q-Learning Implementation</a:t>
            </a:r>
            <a:endParaRPr lang="en-IN" b="1" dirty="0">
              <a:latin typeface="+mj-lt"/>
            </a:endParaRPr>
          </a:p>
        </p:txBody>
      </p:sp>
      <p:sp>
        <p:nvSpPr>
          <p:cNvPr id="3" name="Text Placeholder 2">
            <a:extLst>
              <a:ext uri="{FF2B5EF4-FFF2-40B4-BE49-F238E27FC236}">
                <a16:creationId xmlns:a16="http://schemas.microsoft.com/office/drawing/2014/main" id="{189D676D-C5BF-03EA-D7FB-3D8E6818FA8B}"/>
              </a:ext>
            </a:extLst>
          </p:cNvPr>
          <p:cNvSpPr>
            <a:spLocks noGrp="1"/>
          </p:cNvSpPr>
          <p:nvPr>
            <p:ph type="body" idx="1"/>
          </p:nvPr>
        </p:nvSpPr>
        <p:spPr>
          <a:xfrm>
            <a:off x="518261" y="2000250"/>
            <a:ext cx="10793730" cy="3693319"/>
          </a:xfrm>
        </p:spPr>
        <p:txBody>
          <a:bodyPr/>
          <a:lstStyle/>
          <a:p>
            <a:pPr marL="457200" indent="-457200">
              <a:buFont typeface="Arial" panose="020B0604020202020204" pitchFamily="34" charset="0"/>
              <a:buChar char="•"/>
            </a:pPr>
            <a:r>
              <a:rPr lang="en-US" sz="2400" dirty="0"/>
              <a:t>Q-Learning is a foundational, model-free, value-based reinforcement learning algorithm.</a:t>
            </a:r>
          </a:p>
          <a:p>
            <a:pPr marL="457200" indent="-457200">
              <a:buFont typeface="Arial" panose="020B0604020202020204" pitchFamily="34" charset="0"/>
              <a:buChar char="•"/>
            </a:pPr>
            <a:r>
              <a:rPr lang="en-US" sz="2400" dirty="0"/>
              <a:t>Core Concept: </a:t>
            </a:r>
            <a:r>
              <a:rPr lang="en-US" sz="2400" b="1" dirty="0"/>
              <a:t>The Q-table </a:t>
            </a:r>
            <a:r>
              <a:rPr lang="en-US" sz="2400" dirty="0"/>
              <a:t>is a simple lookup table that stores the expected future rewards, known as Q-values, for each possible action in every state the agent has encountered. The rows of the table represent states, 5 and the columns represent actions.</a:t>
            </a:r>
          </a:p>
          <a:p>
            <a:pPr marL="457200" indent="-457200">
              <a:buFont typeface="Arial" panose="020B0604020202020204" pitchFamily="34" charset="0"/>
              <a:buChar char="•"/>
            </a:pPr>
            <a:r>
              <a:rPr lang="en-US" sz="2400" b="1" dirty="0"/>
              <a:t>The Q-learning update function </a:t>
            </a:r>
            <a:r>
              <a:rPr lang="en-US" sz="2400" dirty="0"/>
              <a:t>is the mathematical heart of the algorithm. After the agent takes an action and receives a reward, this equation dictates how the corresponding Q-value in the Q-table should be updated based on this new experience.</a:t>
            </a:r>
            <a:endParaRPr lang="en-IN" sz="2400" dirty="0"/>
          </a:p>
        </p:txBody>
      </p:sp>
    </p:spTree>
    <p:extLst>
      <p:ext uri="{BB962C8B-B14F-4D97-AF65-F5344CB8AC3E}">
        <p14:creationId xmlns:p14="http://schemas.microsoft.com/office/powerpoint/2010/main" val="41040586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61A92-EDCB-6570-CE1B-AE7284D814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8D1C66-156B-334E-57E5-DA40A2627B09}"/>
              </a:ext>
            </a:extLst>
          </p:cNvPr>
          <p:cNvSpPr>
            <a:spLocks noGrp="1"/>
          </p:cNvSpPr>
          <p:nvPr>
            <p:ph type="title"/>
          </p:nvPr>
        </p:nvSpPr>
        <p:spPr>
          <a:xfrm>
            <a:off x="62966" y="533400"/>
            <a:ext cx="8373109" cy="492443"/>
          </a:xfrm>
        </p:spPr>
        <p:txBody>
          <a:bodyPr/>
          <a:lstStyle/>
          <a:p>
            <a:r>
              <a:rPr lang="en-US" b="1" dirty="0">
                <a:latin typeface="+mj-lt"/>
              </a:rPr>
              <a:t>Algorithm 1: Q-Learning Implementation</a:t>
            </a:r>
            <a:endParaRPr lang="en-IN" b="1" dirty="0">
              <a:latin typeface="+mj-lt"/>
            </a:endParaRPr>
          </a:p>
        </p:txBody>
      </p:sp>
      <p:sp>
        <p:nvSpPr>
          <p:cNvPr id="6" name="TextBox 5">
            <a:extLst>
              <a:ext uri="{FF2B5EF4-FFF2-40B4-BE49-F238E27FC236}">
                <a16:creationId xmlns:a16="http://schemas.microsoft.com/office/drawing/2014/main" id="{7C037004-2CC6-7544-EDC7-76055F94F9A5}"/>
              </a:ext>
            </a:extLst>
          </p:cNvPr>
          <p:cNvSpPr txBox="1"/>
          <p:nvPr/>
        </p:nvSpPr>
        <p:spPr>
          <a:xfrm>
            <a:off x="685800" y="1524000"/>
            <a:ext cx="99060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So we are in step 124 and have below result: </a:t>
            </a:r>
          </a:p>
        </p:txBody>
      </p:sp>
      <p:pic>
        <p:nvPicPr>
          <p:cNvPr id="8" name="Picture 7">
            <a:extLst>
              <a:ext uri="{FF2B5EF4-FFF2-40B4-BE49-F238E27FC236}">
                <a16:creationId xmlns:a16="http://schemas.microsoft.com/office/drawing/2014/main" id="{45DA5F3F-9EEB-2526-2BEA-A2644F4751C6}"/>
              </a:ext>
            </a:extLst>
          </p:cNvPr>
          <p:cNvPicPr>
            <a:picLocks noChangeAspect="1"/>
          </p:cNvPicPr>
          <p:nvPr/>
        </p:nvPicPr>
        <p:blipFill>
          <a:blip r:embed="rId2"/>
          <a:stretch>
            <a:fillRect/>
          </a:stretch>
        </p:blipFill>
        <p:spPr>
          <a:xfrm>
            <a:off x="889861" y="2037890"/>
            <a:ext cx="10412278" cy="3296110"/>
          </a:xfrm>
          <a:prstGeom prst="rect">
            <a:avLst/>
          </a:prstGeom>
        </p:spPr>
      </p:pic>
    </p:spTree>
    <p:extLst>
      <p:ext uri="{BB962C8B-B14F-4D97-AF65-F5344CB8AC3E}">
        <p14:creationId xmlns:p14="http://schemas.microsoft.com/office/powerpoint/2010/main" val="10139790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C933F-D75B-CDCD-B9D4-FE9240FB1D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2D4D26-40C4-3A4B-C821-F44B7951564E}"/>
              </a:ext>
            </a:extLst>
          </p:cNvPr>
          <p:cNvSpPr>
            <a:spLocks noGrp="1"/>
          </p:cNvSpPr>
          <p:nvPr>
            <p:ph type="title"/>
          </p:nvPr>
        </p:nvSpPr>
        <p:spPr>
          <a:xfrm>
            <a:off x="62966" y="533400"/>
            <a:ext cx="8373109" cy="492443"/>
          </a:xfrm>
        </p:spPr>
        <p:txBody>
          <a:bodyPr/>
          <a:lstStyle/>
          <a:p>
            <a:r>
              <a:rPr lang="en-US" b="1" dirty="0">
                <a:latin typeface="+mj-lt"/>
              </a:rPr>
              <a:t>Algorithm 1: Q-Learning Implementation</a:t>
            </a:r>
            <a:endParaRPr lang="en-IN" b="1" dirty="0">
              <a:latin typeface="+mj-lt"/>
            </a:endParaRPr>
          </a:p>
        </p:txBody>
      </p:sp>
      <p:pic>
        <p:nvPicPr>
          <p:cNvPr id="4" name="Picture 3">
            <a:extLst>
              <a:ext uri="{FF2B5EF4-FFF2-40B4-BE49-F238E27FC236}">
                <a16:creationId xmlns:a16="http://schemas.microsoft.com/office/drawing/2014/main" id="{A20CCF46-D157-5D15-3E3C-5C7EFCE9EC3A}"/>
              </a:ext>
            </a:extLst>
          </p:cNvPr>
          <p:cNvPicPr>
            <a:picLocks noChangeAspect="1"/>
          </p:cNvPicPr>
          <p:nvPr/>
        </p:nvPicPr>
        <p:blipFill>
          <a:blip r:embed="rId2"/>
          <a:stretch>
            <a:fillRect/>
          </a:stretch>
        </p:blipFill>
        <p:spPr>
          <a:xfrm>
            <a:off x="503777" y="1728036"/>
            <a:ext cx="5102891" cy="3401927"/>
          </a:xfrm>
          <a:prstGeom prst="rect">
            <a:avLst/>
          </a:prstGeom>
        </p:spPr>
      </p:pic>
      <p:pic>
        <p:nvPicPr>
          <p:cNvPr id="7" name="Picture 6">
            <a:extLst>
              <a:ext uri="{FF2B5EF4-FFF2-40B4-BE49-F238E27FC236}">
                <a16:creationId xmlns:a16="http://schemas.microsoft.com/office/drawing/2014/main" id="{05781503-A43B-03BB-F352-B5009C3C2CF5}"/>
              </a:ext>
            </a:extLst>
          </p:cNvPr>
          <p:cNvPicPr>
            <a:picLocks noChangeAspect="1"/>
          </p:cNvPicPr>
          <p:nvPr/>
        </p:nvPicPr>
        <p:blipFill>
          <a:blip r:embed="rId3"/>
          <a:stretch>
            <a:fillRect/>
          </a:stretch>
        </p:blipFill>
        <p:spPr>
          <a:xfrm>
            <a:off x="6585333" y="2286000"/>
            <a:ext cx="4765958" cy="1419370"/>
          </a:xfrm>
          <a:prstGeom prst="rect">
            <a:avLst/>
          </a:prstGeom>
        </p:spPr>
      </p:pic>
    </p:spTree>
    <p:extLst>
      <p:ext uri="{BB962C8B-B14F-4D97-AF65-F5344CB8AC3E}">
        <p14:creationId xmlns:p14="http://schemas.microsoft.com/office/powerpoint/2010/main" val="19080235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A79DA-5A26-FAB0-C626-7CC86F8B9B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7EA43C-B508-2181-1760-350149FE3F38}"/>
              </a:ext>
            </a:extLst>
          </p:cNvPr>
          <p:cNvSpPr>
            <a:spLocks noGrp="1"/>
          </p:cNvSpPr>
          <p:nvPr>
            <p:ph type="title"/>
          </p:nvPr>
        </p:nvSpPr>
        <p:spPr>
          <a:xfrm>
            <a:off x="78739" y="332943"/>
            <a:ext cx="8373109" cy="492443"/>
          </a:xfrm>
        </p:spPr>
        <p:txBody>
          <a:bodyPr/>
          <a:lstStyle/>
          <a:p>
            <a:r>
              <a:rPr lang="en-US" dirty="0"/>
              <a:t>Reinforcement Learning</a:t>
            </a:r>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3A151563-FF0B-34D1-F288-FD7724536F97}"/>
                  </a:ext>
                </a:extLst>
              </p14:cNvPr>
              <p14:cNvContentPartPr/>
              <p14:nvPr/>
            </p14:nvContentPartPr>
            <p14:xfrm>
              <a:off x="5650848" y="5168664"/>
              <a:ext cx="193680" cy="490320"/>
            </p14:xfrm>
          </p:contentPart>
        </mc:Choice>
        <mc:Fallback xmlns="">
          <p:pic>
            <p:nvPicPr>
              <p:cNvPr id="6" name="Ink 5">
                <a:extLst>
                  <a:ext uri="{FF2B5EF4-FFF2-40B4-BE49-F238E27FC236}">
                    <a16:creationId xmlns:a16="http://schemas.microsoft.com/office/drawing/2014/main" id="{3A151563-FF0B-34D1-F288-FD7724536F97}"/>
                  </a:ext>
                </a:extLst>
              </p:cNvPr>
              <p:cNvPicPr/>
              <p:nvPr/>
            </p:nvPicPr>
            <p:blipFill>
              <a:blip r:embed="rId3"/>
              <a:stretch>
                <a:fillRect/>
              </a:stretch>
            </p:blipFill>
            <p:spPr>
              <a:xfrm>
                <a:off x="5596848" y="5060664"/>
                <a:ext cx="301320" cy="7059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5ECB53F9-9A29-80F7-F33E-3D4726FDC294}"/>
                  </a:ext>
                </a:extLst>
              </p14:cNvPr>
              <p14:cNvContentPartPr/>
              <p14:nvPr/>
            </p14:nvContentPartPr>
            <p14:xfrm>
              <a:off x="5649048" y="5060664"/>
              <a:ext cx="204840" cy="761400"/>
            </p14:xfrm>
          </p:contentPart>
        </mc:Choice>
        <mc:Fallback xmlns="">
          <p:pic>
            <p:nvPicPr>
              <p:cNvPr id="8" name="Ink 7">
                <a:extLst>
                  <a:ext uri="{FF2B5EF4-FFF2-40B4-BE49-F238E27FC236}">
                    <a16:creationId xmlns:a16="http://schemas.microsoft.com/office/drawing/2014/main" id="{5ECB53F9-9A29-80F7-F33E-3D4726FDC294}"/>
                  </a:ext>
                </a:extLst>
              </p:cNvPr>
              <p:cNvPicPr/>
              <p:nvPr/>
            </p:nvPicPr>
            <p:blipFill>
              <a:blip r:embed="rId5"/>
              <a:stretch>
                <a:fillRect/>
              </a:stretch>
            </p:blipFill>
            <p:spPr>
              <a:xfrm>
                <a:off x="5586048" y="4997664"/>
                <a:ext cx="330480" cy="8870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0BCCC791-5F2D-6FA1-4CC5-5A25A9E3C5DC}"/>
                  </a:ext>
                </a:extLst>
              </p14:cNvPr>
              <p14:cNvContentPartPr/>
              <p14:nvPr/>
            </p14:nvContentPartPr>
            <p14:xfrm>
              <a:off x="1645488" y="2688048"/>
              <a:ext cx="360" cy="360"/>
            </p14:xfrm>
          </p:contentPart>
        </mc:Choice>
        <mc:Fallback xmlns="">
          <p:pic>
            <p:nvPicPr>
              <p:cNvPr id="10" name="Ink 9">
                <a:extLst>
                  <a:ext uri="{FF2B5EF4-FFF2-40B4-BE49-F238E27FC236}">
                    <a16:creationId xmlns:a16="http://schemas.microsoft.com/office/drawing/2014/main" id="{0BCCC791-5F2D-6FA1-4CC5-5A25A9E3C5DC}"/>
                  </a:ext>
                </a:extLst>
              </p:cNvPr>
              <p:cNvPicPr/>
              <p:nvPr/>
            </p:nvPicPr>
            <p:blipFill>
              <a:blip r:embed="rId7"/>
              <a:stretch>
                <a:fillRect/>
              </a:stretch>
            </p:blipFill>
            <p:spPr>
              <a:xfrm>
                <a:off x="1582488" y="2625048"/>
                <a:ext cx="126000" cy="126000"/>
              </a:xfrm>
              <a:prstGeom prst="rect">
                <a:avLst/>
              </a:prstGeom>
            </p:spPr>
          </p:pic>
        </mc:Fallback>
      </mc:AlternateContent>
      <p:sp>
        <p:nvSpPr>
          <p:cNvPr id="15" name="TextBox 14">
            <a:extLst>
              <a:ext uri="{FF2B5EF4-FFF2-40B4-BE49-F238E27FC236}">
                <a16:creationId xmlns:a16="http://schemas.microsoft.com/office/drawing/2014/main" id="{56D86D88-0B4B-5015-789C-90C7F20F0ECF}"/>
              </a:ext>
            </a:extLst>
          </p:cNvPr>
          <p:cNvSpPr txBox="1"/>
          <p:nvPr/>
        </p:nvSpPr>
        <p:spPr>
          <a:xfrm>
            <a:off x="2362200" y="5822064"/>
            <a:ext cx="9144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State</a:t>
            </a:r>
          </a:p>
        </p:txBody>
      </p:sp>
      <p:pic>
        <p:nvPicPr>
          <p:cNvPr id="5" name="Picture 4">
            <a:extLst>
              <a:ext uri="{FF2B5EF4-FFF2-40B4-BE49-F238E27FC236}">
                <a16:creationId xmlns:a16="http://schemas.microsoft.com/office/drawing/2014/main" id="{E28F1DE3-483F-637F-1A68-7A37D441E5AF}"/>
              </a:ext>
            </a:extLst>
          </p:cNvPr>
          <p:cNvPicPr>
            <a:picLocks noChangeAspect="1"/>
          </p:cNvPicPr>
          <p:nvPr/>
        </p:nvPicPr>
        <p:blipFill>
          <a:blip r:embed="rId8"/>
          <a:stretch>
            <a:fillRect/>
          </a:stretch>
        </p:blipFill>
        <p:spPr>
          <a:xfrm>
            <a:off x="533400" y="1069803"/>
            <a:ext cx="9484937" cy="5301837"/>
          </a:xfrm>
          <a:prstGeom prst="rect">
            <a:avLst/>
          </a:prstGeom>
        </p:spPr>
      </p:pic>
      <mc:AlternateContent xmlns:mc="http://schemas.openxmlformats.org/markup-compatibility/2006" xmlns:p14="http://schemas.microsoft.com/office/powerpoint/2010/main">
        <mc:Choice Requires="p14">
          <p:contentPart p14:bwMode="auto" r:id="rId9">
            <p14:nvContentPartPr>
              <p14:cNvPr id="7" name="Ink 6">
                <a:extLst>
                  <a:ext uri="{FF2B5EF4-FFF2-40B4-BE49-F238E27FC236}">
                    <a16:creationId xmlns:a16="http://schemas.microsoft.com/office/drawing/2014/main" id="{6A47B505-21C4-D74D-94A8-69C21FECDB51}"/>
                  </a:ext>
                </a:extLst>
              </p14:cNvPr>
              <p14:cNvContentPartPr/>
              <p14:nvPr/>
            </p14:nvContentPartPr>
            <p14:xfrm>
              <a:off x="10139633" y="5562600"/>
              <a:ext cx="332640" cy="791280"/>
            </p14:xfrm>
          </p:contentPart>
        </mc:Choice>
        <mc:Fallback xmlns="">
          <p:pic>
            <p:nvPicPr>
              <p:cNvPr id="7" name="Ink 6">
                <a:extLst>
                  <a:ext uri="{FF2B5EF4-FFF2-40B4-BE49-F238E27FC236}">
                    <a16:creationId xmlns:a16="http://schemas.microsoft.com/office/drawing/2014/main" id="{6A47B505-21C4-D74D-94A8-69C21FECDB51}"/>
                  </a:ext>
                </a:extLst>
              </p:cNvPr>
              <p:cNvPicPr/>
              <p:nvPr/>
            </p:nvPicPr>
            <p:blipFill>
              <a:blip r:embed="rId10"/>
              <a:stretch>
                <a:fillRect/>
              </a:stretch>
            </p:blipFill>
            <p:spPr>
              <a:xfrm>
                <a:off x="10076633" y="5499960"/>
                <a:ext cx="458280" cy="9169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426201D7-7A58-ACBF-E9AD-9BAA27D25E40}"/>
                  </a:ext>
                </a:extLst>
              </p14:cNvPr>
              <p14:cNvContentPartPr/>
              <p14:nvPr/>
            </p14:nvContentPartPr>
            <p14:xfrm>
              <a:off x="13459608" y="4946544"/>
              <a:ext cx="360" cy="360"/>
            </p14:xfrm>
          </p:contentPart>
        </mc:Choice>
        <mc:Fallback xmlns="">
          <p:pic>
            <p:nvPicPr>
              <p:cNvPr id="11" name="Ink 10">
                <a:extLst>
                  <a:ext uri="{FF2B5EF4-FFF2-40B4-BE49-F238E27FC236}">
                    <a16:creationId xmlns:a16="http://schemas.microsoft.com/office/drawing/2014/main" id="{426201D7-7A58-ACBF-E9AD-9BAA27D25E40}"/>
                  </a:ext>
                </a:extLst>
              </p:cNvPr>
              <p:cNvPicPr/>
              <p:nvPr/>
            </p:nvPicPr>
            <p:blipFill>
              <a:blip r:embed="rId7"/>
              <a:stretch>
                <a:fillRect/>
              </a:stretch>
            </p:blipFill>
            <p:spPr>
              <a:xfrm>
                <a:off x="13396608" y="4883904"/>
                <a:ext cx="126000" cy="126000"/>
              </a:xfrm>
              <a:prstGeom prst="rect">
                <a:avLst/>
              </a:prstGeom>
            </p:spPr>
          </p:pic>
        </mc:Fallback>
      </mc:AlternateContent>
    </p:spTree>
    <p:extLst>
      <p:ext uri="{BB962C8B-B14F-4D97-AF65-F5344CB8AC3E}">
        <p14:creationId xmlns:p14="http://schemas.microsoft.com/office/powerpoint/2010/main" val="15168547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8EF0C-AEC5-2ADD-A2E3-FF3C6E35F1D2}"/>
              </a:ext>
            </a:extLst>
          </p:cNvPr>
          <p:cNvSpPr>
            <a:spLocks noGrp="1"/>
          </p:cNvSpPr>
          <p:nvPr>
            <p:ph type="title"/>
          </p:nvPr>
        </p:nvSpPr>
        <p:spPr>
          <a:xfrm>
            <a:off x="76200" y="533400"/>
            <a:ext cx="8373109" cy="492443"/>
          </a:xfrm>
        </p:spPr>
        <p:txBody>
          <a:bodyPr/>
          <a:lstStyle/>
          <a:p>
            <a:r>
              <a:rPr lang="en-IN" b="1" dirty="0">
                <a:latin typeface="Calibri "/>
              </a:rPr>
              <a:t>Q learning</a:t>
            </a:r>
          </a:p>
        </p:txBody>
      </p:sp>
      <p:graphicFrame>
        <p:nvGraphicFramePr>
          <p:cNvPr id="7" name="Table 6">
            <a:extLst>
              <a:ext uri="{FF2B5EF4-FFF2-40B4-BE49-F238E27FC236}">
                <a16:creationId xmlns:a16="http://schemas.microsoft.com/office/drawing/2014/main" id="{9FBBE6A6-A53B-446B-8CC1-AF2892A32B07}"/>
              </a:ext>
            </a:extLst>
          </p:cNvPr>
          <p:cNvGraphicFramePr>
            <a:graphicFrameLocks noGrp="1"/>
          </p:cNvGraphicFramePr>
          <p:nvPr>
            <p:extLst>
              <p:ext uri="{D42A27DB-BD31-4B8C-83A1-F6EECF244321}">
                <p14:modId xmlns:p14="http://schemas.microsoft.com/office/powerpoint/2010/main" val="1006064438"/>
              </p:ext>
            </p:extLst>
          </p:nvPr>
        </p:nvGraphicFramePr>
        <p:xfrm>
          <a:off x="7010400" y="1447800"/>
          <a:ext cx="4267200" cy="4893044"/>
        </p:xfrm>
        <a:graphic>
          <a:graphicData uri="http://schemas.openxmlformats.org/drawingml/2006/table">
            <a:tbl>
              <a:tblPr/>
              <a:tblGrid>
                <a:gridCol w="1422400">
                  <a:extLst>
                    <a:ext uri="{9D8B030D-6E8A-4147-A177-3AD203B41FA5}">
                      <a16:colId xmlns:a16="http://schemas.microsoft.com/office/drawing/2014/main" val="4108212083"/>
                    </a:ext>
                  </a:extLst>
                </a:gridCol>
                <a:gridCol w="1422400">
                  <a:extLst>
                    <a:ext uri="{9D8B030D-6E8A-4147-A177-3AD203B41FA5}">
                      <a16:colId xmlns:a16="http://schemas.microsoft.com/office/drawing/2014/main" val="3438977604"/>
                    </a:ext>
                  </a:extLst>
                </a:gridCol>
                <a:gridCol w="1422400">
                  <a:extLst>
                    <a:ext uri="{9D8B030D-6E8A-4147-A177-3AD203B41FA5}">
                      <a16:colId xmlns:a16="http://schemas.microsoft.com/office/drawing/2014/main" val="1535241891"/>
                    </a:ext>
                  </a:extLst>
                </a:gridCol>
              </a:tblGrid>
              <a:tr h="175685">
                <a:tc>
                  <a:txBody>
                    <a:bodyPr/>
                    <a:lstStyle/>
                    <a:p>
                      <a:pPr>
                        <a:buNone/>
                      </a:pPr>
                      <a:r>
                        <a:rPr lang="en-US" sz="900" b="1" dirty="0"/>
                        <a:t>Step</a:t>
                      </a:r>
                      <a:endParaRPr lang="en-US" sz="900" dirty="0"/>
                    </a:p>
                  </a:txBody>
                  <a:tcPr marL="46951" marR="46951" marT="23475" marB="23475" anchor="ctr">
                    <a:lnL>
                      <a:noFill/>
                    </a:lnL>
                    <a:lnR>
                      <a:noFill/>
                    </a:lnR>
                    <a:lnT>
                      <a:noFill/>
                    </a:lnT>
                    <a:lnB>
                      <a:noFill/>
                    </a:lnB>
                    <a:noFill/>
                  </a:tcPr>
                </a:tc>
                <a:tc>
                  <a:txBody>
                    <a:bodyPr/>
                    <a:lstStyle/>
                    <a:p>
                      <a:pPr>
                        <a:buNone/>
                      </a:pPr>
                      <a:endParaRPr lang="en-US" sz="900" dirty="0"/>
                    </a:p>
                  </a:txBody>
                  <a:tcPr marL="46951" marR="46951" marT="23475" marB="23475" anchor="ctr">
                    <a:lnL>
                      <a:noFill/>
                    </a:lnL>
                    <a:lnR>
                      <a:noFill/>
                    </a:lnR>
                    <a:lnT>
                      <a:noFill/>
                    </a:lnT>
                    <a:lnB>
                      <a:noFill/>
                    </a:lnB>
                    <a:noFill/>
                  </a:tcPr>
                </a:tc>
                <a:tc>
                  <a:txBody>
                    <a:bodyPr/>
                    <a:lstStyle/>
                    <a:p>
                      <a:pPr>
                        <a:buNone/>
                      </a:pPr>
                      <a:r>
                        <a:rPr lang="en-US" sz="900" b="1"/>
                        <a:t>Explanation / Purpose</a:t>
                      </a:r>
                      <a:endParaRPr lang="en-US" sz="900"/>
                    </a:p>
                  </a:txBody>
                  <a:tcPr marL="46951" marR="46951" marT="23475" marB="23475" anchor="ctr">
                    <a:lnL>
                      <a:noFill/>
                    </a:lnL>
                    <a:lnR>
                      <a:noFill/>
                    </a:lnR>
                    <a:lnT>
                      <a:noFill/>
                    </a:lnT>
                    <a:lnB>
                      <a:noFill/>
                    </a:lnB>
                    <a:noFill/>
                  </a:tcPr>
                </a:tc>
                <a:extLst>
                  <a:ext uri="{0D108BD9-81ED-4DB2-BD59-A6C34878D82A}">
                    <a16:rowId xmlns:a16="http://schemas.microsoft.com/office/drawing/2014/main" val="3705605250"/>
                  </a:ext>
                </a:extLst>
              </a:tr>
              <a:tr h="437453">
                <a:tc>
                  <a:txBody>
                    <a:bodyPr/>
                    <a:lstStyle/>
                    <a:p>
                      <a:pPr>
                        <a:buNone/>
                      </a:pPr>
                      <a:r>
                        <a:rPr lang="en-US" sz="900" b="1"/>
                        <a:t>1. Objective</a:t>
                      </a:r>
                      <a:endParaRPr lang="en-US" sz="900"/>
                    </a:p>
                  </a:txBody>
                  <a:tcPr marL="46951" marR="46951" marT="23475" marB="23475" anchor="ctr">
                    <a:lnL>
                      <a:noFill/>
                    </a:lnL>
                    <a:lnR>
                      <a:noFill/>
                    </a:lnR>
                    <a:lnT>
                      <a:noFill/>
                    </a:lnT>
                    <a:lnB>
                      <a:noFill/>
                    </a:lnB>
                    <a:noFill/>
                  </a:tcPr>
                </a:tc>
                <a:tc>
                  <a:txBody>
                    <a:bodyPr/>
                    <a:lstStyle/>
                    <a:p>
                      <a:pPr>
                        <a:buNone/>
                      </a:pPr>
                      <a:endParaRPr lang="en-US" sz="900"/>
                    </a:p>
                  </a:txBody>
                  <a:tcPr marL="46951" marR="46951" marT="23475" marB="23475" anchor="ctr">
                    <a:lnL>
                      <a:noFill/>
                    </a:lnL>
                    <a:lnR>
                      <a:noFill/>
                    </a:lnR>
                    <a:lnT>
                      <a:noFill/>
                    </a:lnT>
                    <a:lnB>
                      <a:noFill/>
                    </a:lnB>
                    <a:noFill/>
                  </a:tcPr>
                </a:tc>
                <a:tc>
                  <a:txBody>
                    <a:bodyPr/>
                    <a:lstStyle/>
                    <a:p>
                      <a:pPr>
                        <a:buNone/>
                      </a:pPr>
                      <a:r>
                        <a:rPr lang="en-US" sz="900" b="1"/>
                        <a:t>Goal:</a:t>
                      </a:r>
                      <a:r>
                        <a:rPr lang="en-US" sz="900"/>
                        <a:t> Maximize total cumulative reward over time</a:t>
                      </a:r>
                    </a:p>
                  </a:txBody>
                  <a:tcPr marL="46951" marR="46951" marT="23475" marB="23475" anchor="ctr">
                    <a:lnL>
                      <a:noFill/>
                    </a:lnL>
                    <a:lnR>
                      <a:noFill/>
                    </a:lnR>
                    <a:lnT>
                      <a:noFill/>
                    </a:lnT>
                    <a:lnB>
                      <a:noFill/>
                    </a:lnB>
                    <a:noFill/>
                  </a:tcPr>
                </a:tc>
                <a:extLst>
                  <a:ext uri="{0D108BD9-81ED-4DB2-BD59-A6C34878D82A}">
                    <a16:rowId xmlns:a16="http://schemas.microsoft.com/office/drawing/2014/main" val="998156371"/>
                  </a:ext>
                </a:extLst>
              </a:tr>
              <a:tr h="437453">
                <a:tc>
                  <a:txBody>
                    <a:bodyPr/>
                    <a:lstStyle/>
                    <a:p>
                      <a:pPr>
                        <a:buNone/>
                      </a:pPr>
                      <a:r>
                        <a:rPr lang="en-US" sz="900" b="1" dirty="0"/>
                        <a:t>2. Reward Function</a:t>
                      </a:r>
                      <a:endParaRPr lang="en-US" sz="900" dirty="0"/>
                    </a:p>
                  </a:txBody>
                  <a:tcPr marL="46951" marR="46951" marT="23475" marB="23475" anchor="ctr">
                    <a:lnL>
                      <a:noFill/>
                    </a:lnL>
                    <a:lnR>
                      <a:noFill/>
                    </a:lnR>
                    <a:lnT>
                      <a:noFill/>
                    </a:lnT>
                    <a:lnB>
                      <a:noFill/>
                    </a:lnB>
                    <a:noFill/>
                  </a:tcPr>
                </a:tc>
                <a:tc>
                  <a:txBody>
                    <a:bodyPr/>
                    <a:lstStyle/>
                    <a:p>
                      <a:pPr>
                        <a:buNone/>
                      </a:pPr>
                      <a:endParaRPr lang="en-US" sz="900" dirty="0"/>
                    </a:p>
                  </a:txBody>
                  <a:tcPr marL="46951" marR="46951" marT="23475" marB="23475" anchor="ctr">
                    <a:lnL>
                      <a:noFill/>
                    </a:lnL>
                    <a:lnR>
                      <a:noFill/>
                    </a:lnR>
                    <a:lnT>
                      <a:noFill/>
                    </a:lnT>
                    <a:lnB>
                      <a:noFill/>
                    </a:lnB>
                    <a:noFill/>
                  </a:tcPr>
                </a:tc>
                <a:tc>
                  <a:txBody>
                    <a:bodyPr/>
                    <a:lstStyle/>
                    <a:p>
                      <a:pPr>
                        <a:buNone/>
                      </a:pPr>
                      <a:r>
                        <a:rPr lang="en-US" sz="900" b="1"/>
                        <a:t>Reward = Negative total queue length</a:t>
                      </a:r>
                      <a:r>
                        <a:rPr lang="en-US" sz="900"/>
                        <a:t> (penalize long queues)</a:t>
                      </a:r>
                    </a:p>
                  </a:txBody>
                  <a:tcPr marL="46951" marR="46951" marT="23475" marB="23475" anchor="ctr">
                    <a:lnL>
                      <a:noFill/>
                    </a:lnL>
                    <a:lnR>
                      <a:noFill/>
                    </a:lnR>
                    <a:lnT>
                      <a:noFill/>
                    </a:lnT>
                    <a:lnB>
                      <a:noFill/>
                    </a:lnB>
                    <a:noFill/>
                  </a:tcPr>
                </a:tc>
                <a:extLst>
                  <a:ext uri="{0D108BD9-81ED-4DB2-BD59-A6C34878D82A}">
                    <a16:rowId xmlns:a16="http://schemas.microsoft.com/office/drawing/2014/main" val="3370871651"/>
                  </a:ext>
                </a:extLst>
              </a:tr>
              <a:tr h="437453">
                <a:tc>
                  <a:txBody>
                    <a:bodyPr/>
                    <a:lstStyle/>
                    <a:p>
                      <a:pPr>
                        <a:buNone/>
                      </a:pPr>
                      <a:r>
                        <a:rPr lang="en-US" sz="900" b="1" dirty="0"/>
                        <a:t>3. State Representation</a:t>
                      </a:r>
                      <a:endParaRPr lang="en-US" sz="900" dirty="0"/>
                    </a:p>
                  </a:txBody>
                  <a:tcPr marL="46951" marR="46951" marT="23475" marB="23475" anchor="ctr">
                    <a:lnL>
                      <a:noFill/>
                    </a:lnL>
                    <a:lnR>
                      <a:noFill/>
                    </a:lnR>
                    <a:lnT>
                      <a:noFill/>
                    </a:lnT>
                    <a:lnB>
                      <a:noFill/>
                    </a:lnB>
                    <a:noFill/>
                  </a:tcPr>
                </a:tc>
                <a:tc>
                  <a:txBody>
                    <a:bodyPr/>
                    <a:lstStyle/>
                    <a:p>
                      <a:pPr>
                        <a:buNone/>
                      </a:pPr>
                      <a:endParaRPr lang="en-US" sz="900" dirty="0"/>
                    </a:p>
                  </a:txBody>
                  <a:tcPr marL="46951" marR="46951" marT="23475" marB="23475" anchor="ctr">
                    <a:lnL>
                      <a:noFill/>
                    </a:lnL>
                    <a:lnR>
                      <a:noFill/>
                    </a:lnR>
                    <a:lnT>
                      <a:noFill/>
                    </a:lnT>
                    <a:lnB>
                      <a:noFill/>
                    </a:lnB>
                    <a:noFill/>
                  </a:tcPr>
                </a:tc>
                <a:tc>
                  <a:txBody>
                    <a:bodyPr/>
                    <a:lstStyle/>
                    <a:p>
                      <a:pPr>
                        <a:buNone/>
                      </a:pPr>
                      <a:r>
                        <a:rPr lang="en-US" sz="900" b="1"/>
                        <a:t>State = Vehicle queues on each lane + current signal phase</a:t>
                      </a:r>
                      <a:endParaRPr lang="en-US" sz="900"/>
                    </a:p>
                  </a:txBody>
                  <a:tcPr marL="46951" marR="46951" marT="23475" marB="23475" anchor="ctr">
                    <a:lnL>
                      <a:noFill/>
                    </a:lnL>
                    <a:lnR>
                      <a:noFill/>
                    </a:lnR>
                    <a:lnT>
                      <a:noFill/>
                    </a:lnT>
                    <a:lnB>
                      <a:noFill/>
                    </a:lnB>
                    <a:noFill/>
                  </a:tcPr>
                </a:tc>
                <a:extLst>
                  <a:ext uri="{0D108BD9-81ED-4DB2-BD59-A6C34878D82A}">
                    <a16:rowId xmlns:a16="http://schemas.microsoft.com/office/drawing/2014/main" val="2060974640"/>
                  </a:ext>
                </a:extLst>
              </a:tr>
              <a:tr h="437453">
                <a:tc>
                  <a:txBody>
                    <a:bodyPr/>
                    <a:lstStyle/>
                    <a:p>
                      <a:pPr>
                        <a:buNone/>
                      </a:pPr>
                      <a:r>
                        <a:rPr lang="en-US" sz="900" b="1" dirty="0"/>
                        <a:t>4. Queue Dynamics</a:t>
                      </a:r>
                      <a:endParaRPr lang="en-US" sz="900" dirty="0"/>
                    </a:p>
                  </a:txBody>
                  <a:tcPr marL="46951" marR="46951" marT="23475" marB="23475" anchor="ctr">
                    <a:lnL>
                      <a:noFill/>
                    </a:lnL>
                    <a:lnR>
                      <a:noFill/>
                    </a:lnR>
                    <a:lnT>
                      <a:noFill/>
                    </a:lnT>
                    <a:lnB>
                      <a:noFill/>
                    </a:lnB>
                    <a:noFill/>
                  </a:tcPr>
                </a:tc>
                <a:tc>
                  <a:txBody>
                    <a:bodyPr/>
                    <a:lstStyle/>
                    <a:p>
                      <a:pPr>
                        <a:buNone/>
                      </a:pPr>
                      <a:endParaRPr lang="en-US" sz="900" dirty="0"/>
                    </a:p>
                  </a:txBody>
                  <a:tcPr marL="46951" marR="46951" marT="23475" marB="23475" anchor="ctr">
                    <a:lnL>
                      <a:noFill/>
                    </a:lnL>
                    <a:lnR>
                      <a:noFill/>
                    </a:lnR>
                    <a:lnT>
                      <a:noFill/>
                    </a:lnT>
                    <a:lnB>
                      <a:noFill/>
                    </a:lnB>
                    <a:noFill/>
                  </a:tcPr>
                </a:tc>
                <a:tc>
                  <a:txBody>
                    <a:bodyPr/>
                    <a:lstStyle/>
                    <a:p>
                      <a:pPr>
                        <a:buNone/>
                      </a:pPr>
                      <a:r>
                        <a:rPr lang="en-US" sz="900" b="1"/>
                        <a:t>Each lane’s queue = old queue + arrivals − departures</a:t>
                      </a:r>
                      <a:endParaRPr lang="en-US" sz="900"/>
                    </a:p>
                  </a:txBody>
                  <a:tcPr marL="46951" marR="46951" marT="23475" marB="23475" anchor="ctr">
                    <a:lnL>
                      <a:noFill/>
                    </a:lnL>
                    <a:lnR>
                      <a:noFill/>
                    </a:lnR>
                    <a:lnT>
                      <a:noFill/>
                    </a:lnT>
                    <a:lnB>
                      <a:noFill/>
                    </a:lnB>
                    <a:noFill/>
                  </a:tcPr>
                </a:tc>
                <a:extLst>
                  <a:ext uri="{0D108BD9-81ED-4DB2-BD59-A6C34878D82A}">
                    <a16:rowId xmlns:a16="http://schemas.microsoft.com/office/drawing/2014/main" val="2535942393"/>
                  </a:ext>
                </a:extLst>
              </a:tr>
              <a:tr h="568337">
                <a:tc>
                  <a:txBody>
                    <a:bodyPr/>
                    <a:lstStyle/>
                    <a:p>
                      <a:pPr>
                        <a:buNone/>
                      </a:pPr>
                      <a:r>
                        <a:rPr lang="en-US" sz="900" b="1"/>
                        <a:t>5. Action (Traffic Light Control)</a:t>
                      </a:r>
                      <a:endParaRPr lang="en-US" sz="900"/>
                    </a:p>
                  </a:txBody>
                  <a:tcPr marL="46951" marR="46951" marT="23475" marB="23475" anchor="ctr">
                    <a:lnL>
                      <a:noFill/>
                    </a:lnL>
                    <a:lnR>
                      <a:noFill/>
                    </a:lnR>
                    <a:lnT>
                      <a:noFill/>
                    </a:lnT>
                    <a:lnB>
                      <a:noFill/>
                    </a:lnB>
                    <a:noFill/>
                  </a:tcPr>
                </a:tc>
                <a:tc>
                  <a:txBody>
                    <a:bodyPr/>
                    <a:lstStyle/>
                    <a:p>
                      <a:pPr>
                        <a:buNone/>
                      </a:pPr>
                      <a:endParaRPr lang="en-US" sz="900" dirty="0"/>
                    </a:p>
                  </a:txBody>
                  <a:tcPr marL="46951" marR="46951" marT="23475" marB="23475" anchor="ctr">
                    <a:lnL>
                      <a:noFill/>
                    </a:lnL>
                    <a:lnR>
                      <a:noFill/>
                    </a:lnR>
                    <a:lnT>
                      <a:noFill/>
                    </a:lnT>
                    <a:lnB>
                      <a:noFill/>
                    </a:lnB>
                    <a:noFill/>
                  </a:tcPr>
                </a:tc>
                <a:tc>
                  <a:txBody>
                    <a:bodyPr/>
                    <a:lstStyle/>
                    <a:p>
                      <a:pPr>
                        <a:buNone/>
                      </a:pPr>
                      <a:r>
                        <a:rPr lang="en-US" sz="900" b="1"/>
                        <a:t>Action:</a:t>
                      </a:r>
                      <a:r>
                        <a:rPr lang="en-US" sz="900"/>
                        <a:t> either keep current phase or switch (respecting min green time)**</a:t>
                      </a:r>
                    </a:p>
                  </a:txBody>
                  <a:tcPr marL="46951" marR="46951" marT="23475" marB="23475" anchor="ctr">
                    <a:lnL>
                      <a:noFill/>
                    </a:lnL>
                    <a:lnR>
                      <a:noFill/>
                    </a:lnR>
                    <a:lnT>
                      <a:noFill/>
                    </a:lnT>
                    <a:lnB>
                      <a:noFill/>
                    </a:lnB>
                    <a:noFill/>
                  </a:tcPr>
                </a:tc>
                <a:extLst>
                  <a:ext uri="{0D108BD9-81ED-4DB2-BD59-A6C34878D82A}">
                    <a16:rowId xmlns:a16="http://schemas.microsoft.com/office/drawing/2014/main" val="4092291805"/>
                  </a:ext>
                </a:extLst>
              </a:tr>
              <a:tr h="568337">
                <a:tc>
                  <a:txBody>
                    <a:bodyPr/>
                    <a:lstStyle/>
                    <a:p>
                      <a:pPr>
                        <a:buNone/>
                      </a:pPr>
                      <a:r>
                        <a:rPr lang="en-US" sz="900" b="1"/>
                        <a:t>6. Q-Learning Update</a:t>
                      </a:r>
                      <a:endParaRPr lang="en-US" sz="900"/>
                    </a:p>
                  </a:txBody>
                  <a:tcPr marL="46951" marR="46951" marT="23475" marB="23475" anchor="ctr">
                    <a:lnL>
                      <a:noFill/>
                    </a:lnL>
                    <a:lnR>
                      <a:noFill/>
                    </a:lnR>
                    <a:lnT>
                      <a:noFill/>
                    </a:lnT>
                    <a:lnB>
                      <a:noFill/>
                    </a:lnB>
                    <a:noFill/>
                  </a:tcPr>
                </a:tc>
                <a:tc>
                  <a:txBody>
                    <a:bodyPr/>
                    <a:lstStyle/>
                    <a:p>
                      <a:pPr>
                        <a:buNone/>
                      </a:pPr>
                      <a:endParaRPr lang="en-US" sz="900" dirty="0"/>
                    </a:p>
                  </a:txBody>
                  <a:tcPr marL="46951" marR="46951" marT="23475" marB="23475" anchor="ctr">
                    <a:lnL>
                      <a:noFill/>
                    </a:lnL>
                    <a:lnR>
                      <a:noFill/>
                    </a:lnR>
                    <a:lnT>
                      <a:noFill/>
                    </a:lnT>
                    <a:lnB>
                      <a:noFill/>
                    </a:lnB>
                    <a:noFill/>
                  </a:tcPr>
                </a:tc>
                <a:tc>
                  <a:txBody>
                    <a:bodyPr/>
                    <a:lstStyle/>
                    <a:p>
                      <a:pPr>
                        <a:buNone/>
                      </a:pPr>
                      <a:r>
                        <a:rPr lang="en-US" sz="900" b="1"/>
                        <a:t>Core learning rule:</a:t>
                      </a:r>
                      <a:r>
                        <a:rPr lang="en-US" sz="900"/>
                        <a:t> update expected return for current state-action</a:t>
                      </a:r>
                    </a:p>
                  </a:txBody>
                  <a:tcPr marL="46951" marR="46951" marT="23475" marB="23475" anchor="ctr">
                    <a:lnL>
                      <a:noFill/>
                    </a:lnL>
                    <a:lnR>
                      <a:noFill/>
                    </a:lnR>
                    <a:lnT>
                      <a:noFill/>
                    </a:lnT>
                    <a:lnB>
                      <a:noFill/>
                    </a:lnB>
                    <a:noFill/>
                  </a:tcPr>
                </a:tc>
                <a:extLst>
                  <a:ext uri="{0D108BD9-81ED-4DB2-BD59-A6C34878D82A}">
                    <a16:rowId xmlns:a16="http://schemas.microsoft.com/office/drawing/2014/main" val="888657065"/>
                  </a:ext>
                </a:extLst>
              </a:tr>
              <a:tr h="568337">
                <a:tc>
                  <a:txBody>
                    <a:bodyPr/>
                    <a:lstStyle/>
                    <a:p>
                      <a:pPr>
                        <a:buNone/>
                      </a:pPr>
                      <a:r>
                        <a:rPr lang="el-GR" sz="900" b="1"/>
                        <a:t>7. ε-</a:t>
                      </a:r>
                      <a:r>
                        <a:rPr lang="en-US" sz="900" b="1"/>
                        <a:t>Greedy Policy</a:t>
                      </a:r>
                      <a:endParaRPr lang="en-US" sz="900"/>
                    </a:p>
                  </a:txBody>
                  <a:tcPr marL="46951" marR="46951" marT="23475" marB="23475" anchor="ctr">
                    <a:lnL>
                      <a:noFill/>
                    </a:lnL>
                    <a:lnR>
                      <a:noFill/>
                    </a:lnR>
                    <a:lnT>
                      <a:noFill/>
                    </a:lnT>
                    <a:lnB>
                      <a:noFill/>
                    </a:lnB>
                    <a:noFill/>
                  </a:tcPr>
                </a:tc>
                <a:tc>
                  <a:txBody>
                    <a:bodyPr/>
                    <a:lstStyle/>
                    <a:p>
                      <a:pPr>
                        <a:buNone/>
                      </a:pPr>
                      <a:endParaRPr lang="en-US" sz="900" dirty="0"/>
                    </a:p>
                  </a:txBody>
                  <a:tcPr marL="46951" marR="46951" marT="23475" marB="23475" anchor="ctr">
                    <a:lnL>
                      <a:noFill/>
                    </a:lnL>
                    <a:lnR>
                      <a:noFill/>
                    </a:lnR>
                    <a:lnT>
                      <a:noFill/>
                    </a:lnT>
                    <a:lnB>
                      <a:noFill/>
                    </a:lnB>
                    <a:noFill/>
                  </a:tcPr>
                </a:tc>
                <a:tc>
                  <a:txBody>
                    <a:bodyPr/>
                    <a:lstStyle/>
                    <a:p>
                      <a:pPr>
                        <a:buNone/>
                      </a:pPr>
                      <a:r>
                        <a:rPr lang="en-US" sz="900" b="1" dirty="0"/>
                        <a:t>Exploration:</a:t>
                      </a:r>
                      <a:r>
                        <a:rPr lang="en-US" sz="900" dirty="0"/>
                        <a:t> choose best action most of the time, random otherwise</a:t>
                      </a:r>
                    </a:p>
                  </a:txBody>
                  <a:tcPr marL="46951" marR="46951" marT="23475" marB="23475" anchor="ctr">
                    <a:lnL>
                      <a:noFill/>
                    </a:lnL>
                    <a:lnR>
                      <a:noFill/>
                    </a:lnR>
                    <a:lnT>
                      <a:noFill/>
                    </a:lnT>
                    <a:lnB>
                      <a:noFill/>
                    </a:lnB>
                    <a:noFill/>
                  </a:tcPr>
                </a:tc>
                <a:extLst>
                  <a:ext uri="{0D108BD9-81ED-4DB2-BD59-A6C34878D82A}">
                    <a16:rowId xmlns:a16="http://schemas.microsoft.com/office/drawing/2014/main" val="3078213952"/>
                  </a:ext>
                </a:extLst>
              </a:tr>
              <a:tr h="437453">
                <a:tc>
                  <a:txBody>
                    <a:bodyPr/>
                    <a:lstStyle/>
                    <a:p>
                      <a:pPr>
                        <a:buNone/>
                      </a:pPr>
                      <a:r>
                        <a:rPr lang="en-US" sz="900" b="1"/>
                        <a:t>8. Constraints</a:t>
                      </a:r>
                      <a:endParaRPr lang="en-US" sz="900"/>
                    </a:p>
                  </a:txBody>
                  <a:tcPr marL="46951" marR="46951" marT="23475" marB="23475" anchor="ctr">
                    <a:lnL>
                      <a:noFill/>
                    </a:lnL>
                    <a:lnR>
                      <a:noFill/>
                    </a:lnR>
                    <a:lnT>
                      <a:noFill/>
                    </a:lnT>
                    <a:lnB>
                      <a:noFill/>
                    </a:lnB>
                    <a:noFill/>
                  </a:tcPr>
                </a:tc>
                <a:tc>
                  <a:txBody>
                    <a:bodyPr/>
                    <a:lstStyle/>
                    <a:p>
                      <a:pPr>
                        <a:buNone/>
                      </a:pPr>
                      <a:endParaRPr lang="en-US" sz="900"/>
                    </a:p>
                  </a:txBody>
                  <a:tcPr marL="46951" marR="46951" marT="23475" marB="23475" anchor="ctr">
                    <a:lnL>
                      <a:noFill/>
                    </a:lnL>
                    <a:lnR>
                      <a:noFill/>
                    </a:lnR>
                    <a:lnT>
                      <a:noFill/>
                    </a:lnT>
                    <a:lnB>
                      <a:noFill/>
                    </a:lnB>
                    <a:noFill/>
                  </a:tcPr>
                </a:tc>
                <a:tc>
                  <a:txBody>
                    <a:bodyPr/>
                    <a:lstStyle/>
                    <a:p>
                      <a:pPr>
                        <a:buNone/>
                      </a:pPr>
                      <a:r>
                        <a:rPr lang="en-US" sz="900" b="1"/>
                        <a:t>Ensure:</a:t>
                      </a:r>
                      <a:r>
                        <a:rPr lang="en-US" sz="900"/>
                        <a:t> Non-negative queue, valid phase index</a:t>
                      </a:r>
                    </a:p>
                  </a:txBody>
                  <a:tcPr marL="46951" marR="46951" marT="23475" marB="23475" anchor="ctr">
                    <a:lnL>
                      <a:noFill/>
                    </a:lnL>
                    <a:lnR>
                      <a:noFill/>
                    </a:lnR>
                    <a:lnT>
                      <a:noFill/>
                    </a:lnT>
                    <a:lnB>
                      <a:noFill/>
                    </a:lnB>
                    <a:noFill/>
                  </a:tcPr>
                </a:tc>
                <a:extLst>
                  <a:ext uri="{0D108BD9-81ED-4DB2-BD59-A6C34878D82A}">
                    <a16:rowId xmlns:a16="http://schemas.microsoft.com/office/drawing/2014/main" val="2486365177"/>
                  </a:ext>
                </a:extLst>
              </a:tr>
              <a:tr h="699220">
                <a:tc>
                  <a:txBody>
                    <a:bodyPr/>
                    <a:lstStyle/>
                    <a:p>
                      <a:pPr>
                        <a:buNone/>
                      </a:pPr>
                      <a:r>
                        <a:rPr lang="en-US" sz="900" b="1"/>
                        <a:t>9. SUMO Integration</a:t>
                      </a:r>
                      <a:endParaRPr lang="en-US" sz="900"/>
                    </a:p>
                  </a:txBody>
                  <a:tcPr marL="46951" marR="46951" marT="23475" marB="23475" anchor="ctr">
                    <a:lnL>
                      <a:noFill/>
                    </a:lnL>
                    <a:lnR>
                      <a:noFill/>
                    </a:lnR>
                    <a:lnT>
                      <a:noFill/>
                    </a:lnT>
                    <a:lnB>
                      <a:noFill/>
                    </a:lnB>
                    <a:noFill/>
                  </a:tcPr>
                </a:tc>
                <a:tc>
                  <a:txBody>
                    <a:bodyPr/>
                    <a:lstStyle/>
                    <a:p>
                      <a:pPr>
                        <a:buNone/>
                      </a:pPr>
                      <a:r>
                        <a:rPr lang="en-US" sz="900"/>
                        <a:t>—</a:t>
                      </a:r>
                    </a:p>
                  </a:txBody>
                  <a:tcPr marL="46951" marR="46951" marT="23475" marB="23475" anchor="ctr">
                    <a:lnL>
                      <a:noFill/>
                    </a:lnL>
                    <a:lnR>
                      <a:noFill/>
                    </a:lnR>
                    <a:lnT>
                      <a:noFill/>
                    </a:lnT>
                    <a:lnB>
                      <a:noFill/>
                    </a:lnB>
                    <a:noFill/>
                  </a:tcPr>
                </a:tc>
                <a:tc>
                  <a:txBody>
                    <a:bodyPr/>
                    <a:lstStyle/>
                    <a:p>
                      <a:pPr>
                        <a:buNone/>
                      </a:pPr>
                      <a:r>
                        <a:rPr lang="en-US" sz="900" b="1" dirty="0"/>
                        <a:t>All traffic variables (queues, arrivals, departures, phases)</a:t>
                      </a:r>
                      <a:r>
                        <a:rPr lang="en-US" sz="900" dirty="0"/>
                        <a:t> are obtained from </a:t>
                      </a:r>
                      <a:r>
                        <a:rPr lang="en-US" sz="900" b="1" dirty="0"/>
                        <a:t>SUMO via </a:t>
                      </a:r>
                      <a:r>
                        <a:rPr lang="en-US" sz="900" b="1" dirty="0" err="1"/>
                        <a:t>TraCI</a:t>
                      </a:r>
                      <a:r>
                        <a:rPr lang="en-US" sz="900" b="1" dirty="0"/>
                        <a:t> API</a:t>
                      </a:r>
                      <a:endParaRPr lang="en-US" sz="900" dirty="0"/>
                    </a:p>
                  </a:txBody>
                  <a:tcPr marL="46951" marR="46951" marT="23475" marB="23475" anchor="ctr">
                    <a:lnL>
                      <a:noFill/>
                    </a:lnL>
                    <a:lnR>
                      <a:noFill/>
                    </a:lnR>
                    <a:lnT>
                      <a:noFill/>
                    </a:lnT>
                    <a:lnB>
                      <a:noFill/>
                    </a:lnB>
                    <a:noFill/>
                  </a:tcPr>
                </a:tc>
                <a:extLst>
                  <a:ext uri="{0D108BD9-81ED-4DB2-BD59-A6C34878D82A}">
                    <a16:rowId xmlns:a16="http://schemas.microsoft.com/office/drawing/2014/main" val="452169278"/>
                  </a:ext>
                </a:extLst>
              </a:tr>
            </a:tbl>
          </a:graphicData>
        </a:graphic>
      </p:graphicFrame>
      <p:pic>
        <p:nvPicPr>
          <p:cNvPr id="9" name="Picture 8">
            <a:extLst>
              <a:ext uri="{FF2B5EF4-FFF2-40B4-BE49-F238E27FC236}">
                <a16:creationId xmlns:a16="http://schemas.microsoft.com/office/drawing/2014/main" id="{3640CD98-0156-A7D8-1346-8206F505A53F}"/>
              </a:ext>
            </a:extLst>
          </p:cNvPr>
          <p:cNvPicPr>
            <a:picLocks noChangeAspect="1"/>
          </p:cNvPicPr>
          <p:nvPr/>
        </p:nvPicPr>
        <p:blipFill>
          <a:blip r:embed="rId2"/>
          <a:stretch>
            <a:fillRect/>
          </a:stretch>
        </p:blipFill>
        <p:spPr>
          <a:xfrm>
            <a:off x="228600" y="1752600"/>
            <a:ext cx="6335009" cy="3924848"/>
          </a:xfrm>
          <a:prstGeom prst="rect">
            <a:avLst/>
          </a:prstGeom>
        </p:spPr>
      </p:pic>
      <p:pic>
        <p:nvPicPr>
          <p:cNvPr id="2049" name="Picture 1" descr="Formula">
            <a:extLst>
              <a:ext uri="{FF2B5EF4-FFF2-40B4-BE49-F238E27FC236}">
                <a16:creationId xmlns:a16="http://schemas.microsoft.com/office/drawing/2014/main" id="{500550F9-69E9-F4EE-E205-1401AD1E30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085850" cy="50482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Formula">
            <a:extLst>
              <a:ext uri="{FF2B5EF4-FFF2-40B4-BE49-F238E27FC236}">
                <a16:creationId xmlns:a16="http://schemas.microsoft.com/office/drawing/2014/main" id="{A7C385B4-8A46-B896-10F4-AF02F493EE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771775" cy="542925"/>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descr="Formula">
            <a:extLst>
              <a:ext uri="{FF2B5EF4-FFF2-40B4-BE49-F238E27FC236}">
                <a16:creationId xmlns:a16="http://schemas.microsoft.com/office/drawing/2014/main" id="{EB6CFDB1-8E0F-E2D4-9268-18B632D66B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4857750" cy="18097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Formula">
            <a:extLst>
              <a:ext uri="{FF2B5EF4-FFF2-40B4-BE49-F238E27FC236}">
                <a16:creationId xmlns:a16="http://schemas.microsoft.com/office/drawing/2014/main" id="{4DB1CC2E-AB52-4F03-971A-C27C32496AE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4105275" cy="180975"/>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Formula">
            <a:extLst>
              <a:ext uri="{FF2B5EF4-FFF2-40B4-BE49-F238E27FC236}">
                <a16:creationId xmlns:a16="http://schemas.microsoft.com/office/drawing/2014/main" id="{4A4C5703-9632-24A8-C740-6D46CB5E4C2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5581650" cy="52387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Formula">
            <a:extLst>
              <a:ext uri="{FF2B5EF4-FFF2-40B4-BE49-F238E27FC236}">
                <a16:creationId xmlns:a16="http://schemas.microsoft.com/office/drawing/2014/main" id="{4E79AAD1-0006-FBFD-477B-0E03C8902D1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4305300" cy="247650"/>
          </a:xfrm>
          <a:prstGeom prst="rect">
            <a:avLst/>
          </a:prstGeom>
          <a:noFill/>
          <a:extLst>
            <a:ext uri="{909E8E84-426E-40DD-AFC4-6F175D3DCCD1}">
              <a14:hiddenFill xmlns:a14="http://schemas.microsoft.com/office/drawing/2010/main">
                <a:solidFill>
                  <a:srgbClr val="FFFFFF"/>
                </a:solidFill>
              </a14:hiddenFill>
            </a:ext>
          </a:extLst>
        </p:spPr>
      </p:pic>
      <p:pic>
        <p:nvPicPr>
          <p:cNvPr id="2055" name="Picture 7" descr="Formula">
            <a:extLst>
              <a:ext uri="{FF2B5EF4-FFF2-40B4-BE49-F238E27FC236}">
                <a16:creationId xmlns:a16="http://schemas.microsoft.com/office/drawing/2014/main" id="{0BC786CE-6C28-D056-7022-18455272B75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0"/>
            <a:ext cx="3571875" cy="53340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Formula">
            <a:extLst>
              <a:ext uri="{FF2B5EF4-FFF2-40B4-BE49-F238E27FC236}">
                <a16:creationId xmlns:a16="http://schemas.microsoft.com/office/drawing/2014/main" id="{0B41DCF5-3C29-EC0F-D99B-877C0EC526F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2876550" cy="180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44424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23112-5F07-338C-6481-983A222044FB}"/>
              </a:ext>
            </a:extLst>
          </p:cNvPr>
          <p:cNvSpPr>
            <a:spLocks noGrp="1"/>
          </p:cNvSpPr>
          <p:nvPr>
            <p:ph type="title"/>
          </p:nvPr>
        </p:nvSpPr>
        <p:spPr>
          <a:xfrm>
            <a:off x="76200" y="533400"/>
            <a:ext cx="8373109" cy="492443"/>
          </a:xfrm>
        </p:spPr>
        <p:txBody>
          <a:bodyPr/>
          <a:lstStyle/>
          <a:p>
            <a:r>
              <a:rPr lang="en-US" b="1" dirty="0">
                <a:latin typeface="Calibri" panose="020F0502020204030204" pitchFamily="34" charset="0"/>
                <a:ea typeface="Calibri" panose="020F0502020204030204" pitchFamily="34" charset="0"/>
                <a:cs typeface="Calibri" panose="020F0502020204030204" pitchFamily="34" charset="0"/>
              </a:rPr>
              <a:t>Results and Comparative Analysis</a:t>
            </a:r>
            <a:endParaRPr lang="en-IN" b="1" dirty="0">
              <a:latin typeface="Calibri" panose="020F0502020204030204" pitchFamily="34" charset="0"/>
              <a:ea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280421B6-A475-E23E-CAE6-2D1E0B940FDF}"/>
              </a:ext>
            </a:extLst>
          </p:cNvPr>
          <p:cNvSpPr>
            <a:spLocks noGrp="1"/>
          </p:cNvSpPr>
          <p:nvPr>
            <p:ph type="body" idx="1"/>
          </p:nvPr>
        </p:nvSpPr>
        <p:spPr>
          <a:xfrm>
            <a:off x="533400" y="1600200"/>
            <a:ext cx="10959465" cy="2769989"/>
          </a:xfrm>
        </p:spPr>
        <p:txBody>
          <a:bodyPr/>
          <a:lstStyle/>
          <a:p>
            <a:r>
              <a:rPr lang="en-IN" sz="2000" b="1" dirty="0">
                <a:latin typeface="Times New Roman" panose="02020603050405020304" pitchFamily="18" charset="0"/>
                <a:cs typeface="Times New Roman" panose="02020603050405020304" pitchFamily="18" charset="0"/>
              </a:rPr>
              <a:t>Q-Learning vs. Fixed-Time Control:</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Cumulative Reward: Over the course of the simulation, the fixed-time controller achieved a final cumulative reward of approximately -6,0000. In contrast, the Q-Learning agent achieved a significantly better reward of approximately -25,000. </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Total Queue Length: The fixed-time controller exhibits high volatility, with queue lengths frequently fluctuating between 0 and 12 vehicles. The Q-Learning agent, however, maintains a much more stable and consistently lower queue length, generally keeping it between 0 and 5 vehicles. </a:t>
            </a:r>
          </a:p>
          <a:p>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4329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3F3DE-50A9-7E9F-1AFA-2763D843B91D}"/>
              </a:ext>
            </a:extLst>
          </p:cNvPr>
          <p:cNvSpPr>
            <a:spLocks noGrp="1"/>
          </p:cNvSpPr>
          <p:nvPr>
            <p:ph type="title"/>
          </p:nvPr>
        </p:nvSpPr>
        <p:spPr>
          <a:xfrm>
            <a:off x="76200" y="533400"/>
            <a:ext cx="8373109" cy="492443"/>
          </a:xfrm>
        </p:spPr>
        <p:txBody>
          <a:bodyPr/>
          <a:lstStyle/>
          <a:p>
            <a:r>
              <a:rPr lang="en-US" b="1" dirty="0">
                <a:latin typeface="Calibri "/>
              </a:rPr>
              <a:t>Results</a:t>
            </a:r>
            <a:endParaRPr lang="en-IN" b="1" dirty="0">
              <a:latin typeface="Calibri "/>
            </a:endParaRPr>
          </a:p>
        </p:txBody>
      </p:sp>
      <p:pic>
        <p:nvPicPr>
          <p:cNvPr id="21" name="Picture 20">
            <a:extLst>
              <a:ext uri="{FF2B5EF4-FFF2-40B4-BE49-F238E27FC236}">
                <a16:creationId xmlns:a16="http://schemas.microsoft.com/office/drawing/2014/main" id="{E0EB5437-D5F8-6DCC-69D9-9C10E02DC2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1371600"/>
            <a:ext cx="3930852" cy="2502029"/>
          </a:xfrm>
          <a:prstGeom prst="rect">
            <a:avLst/>
          </a:prstGeom>
        </p:spPr>
      </p:pic>
      <p:pic>
        <p:nvPicPr>
          <p:cNvPr id="23" name="Picture 22">
            <a:extLst>
              <a:ext uri="{FF2B5EF4-FFF2-40B4-BE49-F238E27FC236}">
                <a16:creationId xmlns:a16="http://schemas.microsoft.com/office/drawing/2014/main" id="{6CD09989-610F-BF95-5C90-8AAB1966A8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1200" y="1283388"/>
            <a:ext cx="4388076" cy="2559182"/>
          </a:xfrm>
          <a:prstGeom prst="rect">
            <a:avLst/>
          </a:prstGeom>
        </p:spPr>
      </p:pic>
      <p:pic>
        <p:nvPicPr>
          <p:cNvPr id="25" name="Picture 24">
            <a:extLst>
              <a:ext uri="{FF2B5EF4-FFF2-40B4-BE49-F238E27FC236}">
                <a16:creationId xmlns:a16="http://schemas.microsoft.com/office/drawing/2014/main" id="{1CDB4B2F-89BA-6D76-80F9-04410DEFCB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0600" y="3962400"/>
            <a:ext cx="4026107" cy="2571882"/>
          </a:xfrm>
          <a:prstGeom prst="rect">
            <a:avLst/>
          </a:prstGeom>
        </p:spPr>
      </p:pic>
      <p:pic>
        <p:nvPicPr>
          <p:cNvPr id="27" name="Picture 26">
            <a:extLst>
              <a:ext uri="{FF2B5EF4-FFF2-40B4-BE49-F238E27FC236}">
                <a16:creationId xmlns:a16="http://schemas.microsoft.com/office/drawing/2014/main" id="{1CDFCB1D-C1C2-0F06-3777-BC4786023B5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70600" y="4083182"/>
            <a:ext cx="4457929" cy="2559182"/>
          </a:xfrm>
          <a:prstGeom prst="rect">
            <a:avLst/>
          </a:prstGeom>
        </p:spPr>
      </p:pic>
    </p:spTree>
    <p:extLst>
      <p:ext uri="{BB962C8B-B14F-4D97-AF65-F5344CB8AC3E}">
        <p14:creationId xmlns:p14="http://schemas.microsoft.com/office/powerpoint/2010/main" val="8323614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9AC52-C750-2A76-F1EF-A734759C3107}"/>
              </a:ext>
            </a:extLst>
          </p:cNvPr>
          <p:cNvSpPr>
            <a:spLocks noGrp="1"/>
          </p:cNvSpPr>
          <p:nvPr>
            <p:ph type="title"/>
          </p:nvPr>
        </p:nvSpPr>
        <p:spPr>
          <a:xfrm>
            <a:off x="152400" y="533400"/>
            <a:ext cx="8373109" cy="492443"/>
          </a:xfrm>
        </p:spPr>
        <p:txBody>
          <a:bodyPr/>
          <a:lstStyle/>
          <a:p>
            <a:r>
              <a:rPr lang="en-IN" b="1" dirty="0">
                <a:latin typeface="Calibri "/>
              </a:rPr>
              <a:t>Recommendations for Further Analysis</a:t>
            </a:r>
          </a:p>
        </p:txBody>
      </p:sp>
      <p:sp>
        <p:nvSpPr>
          <p:cNvPr id="3" name="Text Placeholder 2">
            <a:extLst>
              <a:ext uri="{FF2B5EF4-FFF2-40B4-BE49-F238E27FC236}">
                <a16:creationId xmlns:a16="http://schemas.microsoft.com/office/drawing/2014/main" id="{5FD2402C-BA52-1882-B0E7-8030E01F2A4A}"/>
              </a:ext>
            </a:extLst>
          </p:cNvPr>
          <p:cNvSpPr>
            <a:spLocks noGrp="1"/>
          </p:cNvSpPr>
          <p:nvPr>
            <p:ph type="body" idx="1"/>
          </p:nvPr>
        </p:nvSpPr>
        <p:spPr>
          <a:xfrm>
            <a:off x="381000" y="1447800"/>
            <a:ext cx="10793730" cy="4001095"/>
          </a:xfrm>
        </p:spPr>
        <p:txBody>
          <a:bodyPr/>
          <a:lstStyle/>
          <a:p>
            <a:r>
              <a:rPr lang="en-US" sz="2000" dirty="0"/>
              <a:t>To build upon this foundational work, several extensions are recommended to increase the project's realism and analytical depth: </a:t>
            </a:r>
          </a:p>
          <a:p>
            <a:endParaRPr lang="en-US" sz="2000" dirty="0"/>
          </a:p>
          <a:p>
            <a:r>
              <a:rPr lang="en-US" sz="2000" b="1" dirty="0"/>
              <a:t>• Real-World Application: </a:t>
            </a:r>
            <a:r>
              <a:rPr lang="en-US" sz="2000" dirty="0"/>
              <a:t>Transition from a generic intersection to a real-world location. This can be achieved by creating SUMO roads on a GIS map and incorporating open data for realistic traffic volumes and patterns. </a:t>
            </a:r>
          </a:p>
          <a:p>
            <a:r>
              <a:rPr lang="en-US" sz="2000" b="1" dirty="0"/>
              <a:t>• Enhanced Vehicle Fleet: </a:t>
            </a:r>
            <a:r>
              <a:rPr lang="en-US" sz="2000" dirty="0"/>
              <a:t>Instead of using a single default vehicle type, introduce a more diverse fleet that includes different vehicle classes such as passenger cars and taxis, each with unique behavioral characteristics. </a:t>
            </a:r>
          </a:p>
          <a:p>
            <a:r>
              <a:rPr lang="en-US" sz="2000" b="1" dirty="0"/>
              <a:t>• Adding deep q learning: </a:t>
            </a:r>
            <a:r>
              <a:rPr lang="en-US" sz="2000" dirty="0">
                <a:latin typeface="Times New Roman" panose="02020603050405020304" pitchFamily="18" charset="0"/>
                <a:cs typeface="Times New Roman" panose="02020603050405020304" pitchFamily="18" charset="0"/>
              </a:rPr>
              <a:t>Incorporating deep q learning to enhance the traffic flow.</a:t>
            </a:r>
          </a:p>
          <a:p>
            <a:r>
              <a:rPr lang="en-US" sz="2000" b="1" dirty="0"/>
              <a:t>• Hyperparameter Tuning and Optimization: </a:t>
            </a:r>
            <a:r>
              <a:rPr lang="en-US" sz="2000" dirty="0"/>
              <a:t>Conduct a sensitivity analysis on the core reinforcement learning parameters. Systematically tuning these values can further optimize agent performance and reveal insights into the learning dynamics for this specific problem.</a:t>
            </a:r>
            <a:endParaRPr lang="en-IN" sz="2000" dirty="0"/>
          </a:p>
        </p:txBody>
      </p:sp>
    </p:spTree>
    <p:extLst>
      <p:ext uri="{BB962C8B-B14F-4D97-AF65-F5344CB8AC3E}">
        <p14:creationId xmlns:p14="http://schemas.microsoft.com/office/powerpoint/2010/main" val="6214308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56341-C01A-9F60-129D-03A75D84BAF2}"/>
              </a:ext>
            </a:extLst>
          </p:cNvPr>
          <p:cNvSpPr>
            <a:spLocks noGrp="1"/>
          </p:cNvSpPr>
          <p:nvPr>
            <p:ph type="title"/>
          </p:nvPr>
        </p:nvSpPr>
        <p:spPr>
          <a:xfrm>
            <a:off x="78739" y="332943"/>
            <a:ext cx="8373109" cy="492443"/>
          </a:xfrm>
        </p:spPr>
        <p:txBody>
          <a:bodyPr/>
          <a:lstStyle/>
          <a:p>
            <a:r>
              <a:rPr lang="en-US" b="1" dirty="0">
                <a:latin typeface="Calibri "/>
              </a:rPr>
              <a:t>References</a:t>
            </a:r>
            <a:endParaRPr lang="en-IN" b="1" dirty="0">
              <a:latin typeface="Calibri "/>
            </a:endParaRPr>
          </a:p>
        </p:txBody>
      </p:sp>
      <p:sp>
        <p:nvSpPr>
          <p:cNvPr id="3" name="Text Placeholder 2">
            <a:extLst>
              <a:ext uri="{FF2B5EF4-FFF2-40B4-BE49-F238E27FC236}">
                <a16:creationId xmlns:a16="http://schemas.microsoft.com/office/drawing/2014/main" id="{29B9BADE-BD74-F4BC-A2EF-2F16A3EABD91}"/>
              </a:ext>
            </a:extLst>
          </p:cNvPr>
          <p:cNvSpPr>
            <a:spLocks noGrp="1"/>
          </p:cNvSpPr>
          <p:nvPr>
            <p:ph type="body" idx="1"/>
          </p:nvPr>
        </p:nvSpPr>
        <p:spPr>
          <a:xfrm>
            <a:off x="304800" y="1524000"/>
            <a:ext cx="10987939" cy="4739759"/>
          </a:xfrm>
        </p:spPr>
        <p:txBody>
          <a:bodyPr/>
          <a:lstStyle/>
          <a:p>
            <a:pPr marL="228600" lvl="0" indent="-228600" algn="just">
              <a:buFont typeface="+mj-lt"/>
              <a:buAutoNum type="arabicPeriod"/>
            </a:pPr>
            <a:r>
              <a:rPr lang="en-IN" sz="1400" dirty="0">
                <a:latin typeface="Times New Roman" panose="02020603050405020304" pitchFamily="18" charset="0"/>
                <a:cs typeface="Times New Roman" panose="02020603050405020304" pitchFamily="18" charset="0"/>
              </a:rPr>
              <a:t>P. Santhiya, I. J. </a:t>
            </a:r>
            <a:r>
              <a:rPr lang="en-IN" sz="1400" dirty="0" err="1">
                <a:latin typeface="Times New Roman" panose="02020603050405020304" pitchFamily="18" charset="0"/>
                <a:cs typeface="Times New Roman" panose="02020603050405020304" pitchFamily="18" charset="0"/>
              </a:rPr>
              <a:t>Jebadurai</a:t>
            </a:r>
            <a:r>
              <a:rPr lang="en-IN" sz="1400" dirty="0">
                <a:latin typeface="Times New Roman" panose="02020603050405020304" pitchFamily="18" charset="0"/>
                <a:cs typeface="Times New Roman" panose="02020603050405020304" pitchFamily="18" charset="0"/>
              </a:rPr>
              <a:t>, G. J. L. Paulraj, J. A, G. R. A and S. K. Karan, "ITS-AI Integration: Enhanced Strategies for Mitigating Urban Traffic Congestion," 2024 5th International Conference on Recent Trends in Computer Science and Technology (ICRTCST), Jamshedpur, India, 2024, pp. 376-381, doi:10.1109/ICRTCST61793.2024.10578453. </a:t>
            </a:r>
            <a:endParaRPr lang="en-US" sz="1400" dirty="0">
              <a:latin typeface="Times New Roman" panose="02020603050405020304" pitchFamily="18" charset="0"/>
              <a:cs typeface="Times New Roman" panose="02020603050405020304" pitchFamily="18" charset="0"/>
            </a:endParaRPr>
          </a:p>
          <a:p>
            <a:pPr marL="228600" lvl="0" indent="-228600" algn="just">
              <a:buFont typeface="+mj-lt"/>
              <a:buAutoNum type="arabicPeriod"/>
            </a:pPr>
            <a:r>
              <a:rPr lang="en-IN" sz="1400" dirty="0">
                <a:latin typeface="Times New Roman" panose="02020603050405020304" pitchFamily="18" charset="0"/>
                <a:cs typeface="Times New Roman" panose="02020603050405020304" pitchFamily="18" charset="0"/>
              </a:rPr>
              <a:t>Genders, W., &amp; Razavi, S. (2016). Using a deep reinforcement learning agent for traffic signal control. </a:t>
            </a:r>
            <a:r>
              <a:rPr lang="en-IN" sz="1400" dirty="0" err="1">
                <a:latin typeface="Times New Roman" panose="02020603050405020304" pitchFamily="18" charset="0"/>
                <a:cs typeface="Times New Roman" panose="02020603050405020304" pitchFamily="18" charset="0"/>
              </a:rPr>
              <a:t>arXiv</a:t>
            </a:r>
            <a:r>
              <a:rPr lang="en-IN" sz="1400" dirty="0">
                <a:latin typeface="Times New Roman" panose="02020603050405020304" pitchFamily="18" charset="0"/>
                <a:cs typeface="Times New Roman" panose="02020603050405020304" pitchFamily="18" charset="0"/>
              </a:rPr>
              <a:t> preprint arXiv:1611.01142.</a:t>
            </a:r>
            <a:endParaRPr lang="en-US" sz="1400" dirty="0">
              <a:latin typeface="Times New Roman" panose="02020603050405020304" pitchFamily="18" charset="0"/>
              <a:cs typeface="Times New Roman" panose="02020603050405020304" pitchFamily="18" charset="0"/>
            </a:endParaRPr>
          </a:p>
          <a:p>
            <a:pPr marL="228600" lvl="0" indent="-228600" algn="just">
              <a:buFont typeface="+mj-lt"/>
              <a:buAutoNum type="arabicPeriod"/>
            </a:pPr>
            <a:r>
              <a:rPr lang="en-IN" sz="1400" dirty="0">
                <a:latin typeface="Times New Roman" panose="02020603050405020304" pitchFamily="18" charset="0"/>
                <a:cs typeface="Times New Roman" panose="02020603050405020304" pitchFamily="18" charset="0"/>
              </a:rPr>
              <a:t>Liu, X. Y., Zhu, M., Borst, S., &amp; Walid, A. (2023). Deep reinforcement learning for traffic light control in intelligent transportation systems. </a:t>
            </a:r>
            <a:r>
              <a:rPr lang="en-IN" sz="1400" i="1" dirty="0" err="1">
                <a:latin typeface="Times New Roman" panose="02020603050405020304" pitchFamily="18" charset="0"/>
                <a:cs typeface="Times New Roman" panose="02020603050405020304" pitchFamily="18" charset="0"/>
              </a:rPr>
              <a:t>arXiv</a:t>
            </a:r>
            <a:r>
              <a:rPr lang="en-IN" sz="1400" i="1" dirty="0">
                <a:latin typeface="Times New Roman" panose="02020603050405020304" pitchFamily="18" charset="0"/>
                <a:cs typeface="Times New Roman" panose="02020603050405020304" pitchFamily="18" charset="0"/>
              </a:rPr>
              <a:t> preprint arXiv:2302.03669</a:t>
            </a:r>
            <a:r>
              <a:rPr lang="en-IN" sz="1400" dirty="0">
                <a:latin typeface="Times New Roman" panose="02020603050405020304" pitchFamily="18" charset="0"/>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p>
            <a:pPr marL="228600" lvl="0" indent="-228600" algn="just">
              <a:buFont typeface="+mj-lt"/>
              <a:buAutoNum type="arabicPeriod"/>
            </a:pPr>
            <a:r>
              <a:rPr lang="en-IN" sz="1400" dirty="0" err="1">
                <a:latin typeface="Times New Roman" panose="02020603050405020304" pitchFamily="18" charset="0"/>
                <a:cs typeface="Times New Roman" panose="02020603050405020304" pitchFamily="18" charset="0"/>
              </a:rPr>
              <a:t>Swapno</a:t>
            </a:r>
            <a:r>
              <a:rPr lang="en-IN" sz="1400" dirty="0">
                <a:latin typeface="Times New Roman" panose="02020603050405020304" pitchFamily="18" charset="0"/>
                <a:cs typeface="Times New Roman" panose="02020603050405020304" pitchFamily="18" charset="0"/>
              </a:rPr>
              <a:t>, S. M. M. R., Nobel, S. M. N., Meena, P., Meena, V. P., Azar, A. T., Haider, Z., … &amp; Tounsi, M. (2024). A reinforcement learning approach for reducing traffic congestion using deep q learning. Scientific Reports, 14(1). </a:t>
            </a:r>
            <a:r>
              <a:rPr lang="en-IN" sz="1400" u="sng" dirty="0">
                <a:latin typeface="Times New Roman" panose="02020603050405020304" pitchFamily="18" charset="0"/>
                <a:cs typeface="Times New Roman" panose="02020603050405020304" pitchFamily="18" charset="0"/>
                <a:hlinkClick r:id="rId2"/>
              </a:rPr>
              <a:t>https://doi.org/10.1038/s41598-024-75638-0</a:t>
            </a:r>
            <a:endParaRPr lang="en-US" sz="1400" u="sng" dirty="0">
              <a:latin typeface="Times New Roman" panose="02020603050405020304" pitchFamily="18" charset="0"/>
              <a:cs typeface="Times New Roman" panose="02020603050405020304" pitchFamily="18" charset="0"/>
            </a:endParaRPr>
          </a:p>
          <a:p>
            <a:pPr marL="228600" lvl="0" indent="-228600" algn="just">
              <a:buFont typeface="+mj-lt"/>
              <a:buAutoNum type="arabicPeriod"/>
            </a:pPr>
            <a:r>
              <a:rPr lang="en-IN" sz="1400" dirty="0">
                <a:latin typeface="Times New Roman" panose="02020603050405020304" pitchFamily="18" charset="0"/>
                <a:cs typeface="Times New Roman" panose="02020603050405020304" pitchFamily="18" charset="0"/>
              </a:rPr>
              <a:t>Cai, C. and Wei, M. (2024). Adaptive urban traffic signal control based on enhanced deep reinforcement learning. Scientific Reports, 14(1). </a:t>
            </a:r>
            <a:r>
              <a:rPr lang="en-IN" sz="1400" u="sng" dirty="0">
                <a:latin typeface="Times New Roman" panose="02020603050405020304" pitchFamily="18" charset="0"/>
                <a:cs typeface="Times New Roman" panose="02020603050405020304" pitchFamily="18" charset="0"/>
                <a:hlinkClick r:id="rId3"/>
              </a:rPr>
              <a:t>https://doi.org/10.1038/s41598-024-64885-w</a:t>
            </a:r>
            <a:endParaRPr lang="en-US" sz="1400" u="sng" dirty="0">
              <a:latin typeface="Times New Roman" panose="02020603050405020304" pitchFamily="18" charset="0"/>
              <a:cs typeface="Times New Roman" panose="02020603050405020304" pitchFamily="18" charset="0"/>
            </a:endParaRPr>
          </a:p>
          <a:p>
            <a:pPr marL="228600" lvl="0" indent="-228600" algn="just">
              <a:buFont typeface="+mj-lt"/>
              <a:buAutoNum type="arabicPeriod"/>
            </a:pPr>
            <a:r>
              <a:rPr lang="en-IN" sz="1400" dirty="0">
                <a:latin typeface="Times New Roman" panose="02020603050405020304" pitchFamily="18" charset="0"/>
                <a:cs typeface="Times New Roman" panose="02020603050405020304" pitchFamily="18" charset="0"/>
              </a:rPr>
              <a:t>Li, M., Pan, X., Liu, C., &amp; Li, Z. (2025). Federated deep reinforcement learning-based urban traffic signal optimal control. </a:t>
            </a:r>
            <a:r>
              <a:rPr lang="en-IN" sz="1400" i="1" dirty="0">
                <a:latin typeface="Times New Roman" panose="02020603050405020304" pitchFamily="18" charset="0"/>
                <a:cs typeface="Times New Roman" panose="02020603050405020304" pitchFamily="18" charset="0"/>
              </a:rPr>
              <a:t>Scientific reports, 15</a:t>
            </a:r>
            <a:r>
              <a:rPr lang="en-IN" sz="1400" dirty="0">
                <a:latin typeface="Times New Roman" panose="02020603050405020304" pitchFamily="18" charset="0"/>
                <a:cs typeface="Times New Roman" panose="02020603050405020304" pitchFamily="18" charset="0"/>
              </a:rPr>
              <a:t>(1), 11724. </a:t>
            </a:r>
            <a:r>
              <a:rPr lang="en-IN" sz="1400" u="sng" dirty="0">
                <a:latin typeface="Times New Roman" panose="02020603050405020304" pitchFamily="18" charset="0"/>
                <a:cs typeface="Times New Roman" panose="02020603050405020304" pitchFamily="18" charset="0"/>
                <a:hlinkClick r:id="rId4"/>
              </a:rPr>
              <a:t>https://doi.org/10.1038/s41598-025-91966-1</a:t>
            </a:r>
            <a:endParaRPr lang="en-US" sz="1400" u="sng" dirty="0">
              <a:latin typeface="Times New Roman" panose="02020603050405020304" pitchFamily="18" charset="0"/>
              <a:cs typeface="Times New Roman" panose="02020603050405020304" pitchFamily="18" charset="0"/>
            </a:endParaRPr>
          </a:p>
          <a:p>
            <a:pPr marL="228600" lvl="0" indent="-228600" algn="just">
              <a:buFont typeface="+mj-lt"/>
              <a:buAutoNum type="arabicPeriod"/>
            </a:pPr>
            <a:r>
              <a:rPr lang="en-IN" sz="1400" dirty="0" err="1">
                <a:latin typeface="Times New Roman" panose="02020603050405020304" pitchFamily="18" charset="0"/>
                <a:cs typeface="Times New Roman" panose="02020603050405020304" pitchFamily="18" charset="0"/>
              </a:rPr>
              <a:t>Bouktif</a:t>
            </a:r>
            <a:r>
              <a:rPr lang="en-IN" sz="1400" dirty="0">
                <a:latin typeface="Times New Roman" panose="02020603050405020304" pitchFamily="18" charset="0"/>
                <a:cs typeface="Times New Roman" panose="02020603050405020304" pitchFamily="18" charset="0"/>
              </a:rPr>
              <a:t>, S., </a:t>
            </a:r>
            <a:r>
              <a:rPr lang="en-IN" sz="1400" dirty="0" err="1">
                <a:latin typeface="Times New Roman" panose="02020603050405020304" pitchFamily="18" charset="0"/>
                <a:cs typeface="Times New Roman" panose="02020603050405020304" pitchFamily="18" charset="0"/>
              </a:rPr>
              <a:t>Cheniki</a:t>
            </a:r>
            <a:r>
              <a:rPr lang="en-IN" sz="1400" dirty="0">
                <a:latin typeface="Times New Roman" panose="02020603050405020304" pitchFamily="18" charset="0"/>
                <a:cs typeface="Times New Roman" panose="02020603050405020304" pitchFamily="18" charset="0"/>
              </a:rPr>
              <a:t>, A., &amp; Ouni, A. (2021). Traffic Signal Control Using Hybrid Action Space Deep Reinforcement Learning. Sensors (Basel, Switzerland), 21(7), 2302. </a:t>
            </a:r>
            <a:r>
              <a:rPr lang="en-IN" sz="1400" u="sng" dirty="0">
                <a:latin typeface="Times New Roman" panose="02020603050405020304" pitchFamily="18" charset="0"/>
                <a:cs typeface="Times New Roman" panose="02020603050405020304" pitchFamily="18" charset="0"/>
                <a:hlinkClick r:id="rId5"/>
              </a:rPr>
              <a:t>https://doi.org/10.3390/s21072302</a:t>
            </a:r>
            <a:endParaRPr lang="en-US" sz="1400" u="sng" dirty="0">
              <a:latin typeface="Times New Roman" panose="02020603050405020304" pitchFamily="18" charset="0"/>
              <a:cs typeface="Times New Roman" panose="02020603050405020304" pitchFamily="18" charset="0"/>
            </a:endParaRPr>
          </a:p>
          <a:p>
            <a:pPr marL="228600" lvl="0" indent="-228600" algn="just">
              <a:buFont typeface="+mj-lt"/>
              <a:buAutoNum type="arabicPeriod"/>
            </a:pPr>
            <a:r>
              <a:rPr lang="en-IN" sz="1400" dirty="0">
                <a:latin typeface="Times New Roman" panose="02020603050405020304" pitchFamily="18" charset="0"/>
                <a:cs typeface="Times New Roman" panose="02020603050405020304" pitchFamily="18" charset="0"/>
              </a:rPr>
              <a:t>Ravindran, S. K. T., Balachandran, G. B., &amp; David, P. W. (2025). Measurement and analysis of heterogeneous road transport parameters using smart traffic analyser and sumo simulator: an experimental approach. </a:t>
            </a:r>
            <a:r>
              <a:rPr lang="en-IN" sz="1400" u="sng" dirty="0">
                <a:latin typeface="Times New Roman" panose="02020603050405020304" pitchFamily="18" charset="0"/>
                <a:cs typeface="Times New Roman" panose="02020603050405020304" pitchFamily="18" charset="0"/>
                <a:hlinkClick r:id="rId6"/>
              </a:rPr>
              <a:t>https://doi.org/10.1016/j.measurement.2024.116233</a:t>
            </a:r>
            <a:endParaRPr lang="en-US" sz="1400" u="sng" dirty="0">
              <a:latin typeface="Times New Roman" panose="02020603050405020304" pitchFamily="18" charset="0"/>
              <a:cs typeface="Times New Roman" panose="02020603050405020304" pitchFamily="18" charset="0"/>
            </a:endParaRPr>
          </a:p>
          <a:p>
            <a:pPr marL="228600" lvl="0" indent="-228600" algn="just">
              <a:buFont typeface="+mj-lt"/>
              <a:buAutoNum type="arabicPeriod"/>
            </a:pPr>
            <a:r>
              <a:rPr lang="en-IN" sz="1400" dirty="0">
                <a:latin typeface="Times New Roman" panose="02020603050405020304" pitchFamily="18" charset="0"/>
                <a:cs typeface="Times New Roman" panose="02020603050405020304" pitchFamily="18" charset="0"/>
              </a:rPr>
              <a:t>Son, S., &amp; Jin, J. (2024). Applying Reinforcement Learning to Optimize Traffic Light Cycles. </a:t>
            </a:r>
            <a:r>
              <a:rPr lang="en-IN" sz="1400" dirty="0" err="1">
                <a:latin typeface="Times New Roman" panose="02020603050405020304" pitchFamily="18" charset="0"/>
                <a:cs typeface="Times New Roman" panose="02020603050405020304" pitchFamily="18" charset="0"/>
              </a:rPr>
              <a:t>arXiv</a:t>
            </a:r>
            <a:r>
              <a:rPr lang="en-IN" sz="1400" dirty="0">
                <a:latin typeface="Times New Roman" panose="02020603050405020304" pitchFamily="18" charset="0"/>
                <a:cs typeface="Times New Roman" panose="02020603050405020304" pitchFamily="18" charset="0"/>
              </a:rPr>
              <a:t> preprint arXiv:2402.14886.</a:t>
            </a:r>
            <a:endParaRPr lang="en-US" sz="1400" dirty="0">
              <a:latin typeface="Times New Roman" panose="02020603050405020304" pitchFamily="18" charset="0"/>
              <a:cs typeface="Times New Roman" panose="02020603050405020304" pitchFamily="18" charset="0"/>
            </a:endParaRPr>
          </a:p>
          <a:p>
            <a:pPr marL="228600" lvl="0" indent="-228600" algn="just">
              <a:buFont typeface="+mj-lt"/>
              <a:buAutoNum type="arabicPeriod"/>
            </a:pPr>
            <a:r>
              <a:rPr lang="en-IN" sz="1400" dirty="0" err="1">
                <a:latin typeface="Times New Roman" panose="02020603050405020304" pitchFamily="18" charset="0"/>
                <a:cs typeface="Times New Roman" panose="02020603050405020304" pitchFamily="18" charset="0"/>
              </a:rPr>
              <a:t>Dataset:</a:t>
            </a:r>
            <a:r>
              <a:rPr lang="en-IN" sz="1400" u="sng" dirty="0" err="1">
                <a:latin typeface="Times New Roman" panose="02020603050405020304" pitchFamily="18" charset="0"/>
                <a:cs typeface="Times New Roman" panose="02020603050405020304" pitchFamily="18" charset="0"/>
                <a:hlinkClick r:id="rId7"/>
              </a:rPr>
              <a:t>https</a:t>
            </a:r>
            <a:r>
              <a:rPr lang="en-IN" sz="1400" u="sng" dirty="0">
                <a:latin typeface="Times New Roman" panose="02020603050405020304" pitchFamily="18" charset="0"/>
                <a:cs typeface="Times New Roman" panose="02020603050405020304" pitchFamily="18" charset="0"/>
                <a:hlinkClick r:id="rId7"/>
              </a:rPr>
              <a:t>://www.kaggle.com/datasets/rawsi18/new-delhi-traffic-probe-and-analytics-2024</a:t>
            </a:r>
            <a:endParaRPr lang="en-IN" sz="1400" u="sng" dirty="0">
              <a:latin typeface="Times New Roman" panose="02020603050405020304" pitchFamily="18" charset="0"/>
              <a:cs typeface="Times New Roman" panose="02020603050405020304" pitchFamily="18" charset="0"/>
            </a:endParaRPr>
          </a:p>
          <a:p>
            <a:pPr marL="228600" lvl="0" indent="-228600" algn="just">
              <a:buFont typeface="+mj-lt"/>
              <a:buAutoNum type="arabicPeriod"/>
            </a:pPr>
            <a:r>
              <a:rPr lang="en-IN" sz="1400" u="sng" dirty="0">
                <a:latin typeface="Times New Roman" panose="02020603050405020304" pitchFamily="18" charset="0"/>
                <a:cs typeface="Times New Roman" panose="02020603050405020304" pitchFamily="18" charset="0"/>
              </a:rPr>
              <a:t>Code:</a:t>
            </a:r>
            <a:r>
              <a:rPr lang="en-US" sz="1400" dirty="0">
                <a:latin typeface="Times New Roman" panose="02020603050405020304" pitchFamily="18" charset="0"/>
                <a:cs typeface="Times New Roman" panose="02020603050405020304" pitchFamily="18" charset="0"/>
              </a:rPr>
              <a:t>https://github.com/Yashh772/minor-project-7th-semester</a:t>
            </a:r>
          </a:p>
          <a:p>
            <a:br>
              <a:rPr lang="en-US" dirty="0"/>
            </a:b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29511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392</TotalTime>
  <Words>1857</Words>
  <Application>Microsoft Office PowerPoint</Application>
  <PresentationFormat>Widescreen</PresentationFormat>
  <Paragraphs>116</Paragraphs>
  <Slides>21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CaIibri</vt:lpstr>
      <vt:lpstr>Calibri</vt:lpstr>
      <vt:lpstr>Calibri </vt:lpstr>
      <vt:lpstr>Calibri Light</vt:lpstr>
      <vt:lpstr>Times New Roman</vt:lpstr>
      <vt:lpstr>Office Theme</vt:lpstr>
      <vt:lpstr>PowerPoint Presentation</vt:lpstr>
      <vt:lpstr>INTRODUCTION TO PROJECT</vt:lpstr>
      <vt:lpstr>Simulation Environment and Network Configuration</vt:lpstr>
      <vt:lpstr>Network Construction in Netedit </vt:lpstr>
      <vt:lpstr>Network Construction in Netedit </vt:lpstr>
      <vt:lpstr>Network Construction in Netedit </vt:lpstr>
      <vt:lpstr>Network Construction in Netedit </vt:lpstr>
      <vt:lpstr>Reinforcement Learning Framework Formulation</vt:lpstr>
      <vt:lpstr>Reinforcement Learning</vt:lpstr>
      <vt:lpstr>Reinforcement Learning</vt:lpstr>
      <vt:lpstr>Reinforcement Learning</vt:lpstr>
      <vt:lpstr>Reinforcement Learning</vt:lpstr>
      <vt:lpstr>Algorithm 1: Q-Learning Implementation</vt:lpstr>
      <vt:lpstr>Algorithm 1: Q-Learning Implementation</vt:lpstr>
      <vt:lpstr>Algorithm 1: Q-Learning Implementation</vt:lpstr>
      <vt:lpstr>Reinforcement Learning</vt:lpstr>
      <vt:lpstr>Q learning</vt:lpstr>
      <vt:lpstr>Results and Comparative Analysis</vt:lpstr>
      <vt:lpstr>Results</vt:lpstr>
      <vt:lpstr>Recommendations for Further Analysis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Divya Agarwal</dc:creator>
  <cp:lastModifiedBy>Anand Sharma</cp:lastModifiedBy>
  <cp:revision>4</cp:revision>
  <dcterms:created xsi:type="dcterms:W3CDTF">2025-10-12T12:21:20Z</dcterms:created>
  <dcterms:modified xsi:type="dcterms:W3CDTF">2026-07-31T02:42:43Z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2023-09-18T00:00:00Z</vt:filetime>
  </property>
  <property fmtid="{D5CDD505-2E9C-101B-9397-08002B2CF9AE}" pid="3" name="Creator">
    <vt:lpwstr>Microsoft® PowerPoint® 2019</vt:lpwstr>
  </property>
  <property fmtid="{D5CDD505-2E9C-101B-9397-08002B2CF9AE}" pid="4" name="LastSaved">
    <vt:filetime>2025-10-12T00:00:00Z</vt:filetime>
  </property>
  <property fmtid="{D5CDD505-2E9C-101B-9397-08002B2CF9AE}" pid="5" name="Producer">
    <vt:lpwstr>Microsoft® PowerPoint® 2019</vt:lpwstr>
  </property>
</Properties>
</file>